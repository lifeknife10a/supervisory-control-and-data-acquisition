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a0bf5a3-3799-efa0-5bc8-5cf6fcd8f124}">
          <p14:sldIdLst>
            <p14:sldId id="256"/>
            <p14:sldId id="257"/>
          </p14:sldIdLst>
        </p14:section>
        <p14:section name="System Design" id="{f8372d90-3ba7-339b-17cc-98715aa74db3}">
          <p14:sldIdLst>
            <p14:sldId id="258"/>
          </p14:sldIdLst>
        </p14:section>
        <p14:section name="Hardware" id="{ef4c4e80-8fec-9f63-7b9b-f296284e153a}">
          <p14:sldIdLst>
            <p14:sldId id="259"/>
            <p14:sldId id="260"/>
            <p14:sldId id="261"/>
          </p14:sldIdLst>
        </p14:section>
        <p14:section name="Firmware &amp; Communication" id="{80221043-0ff1-9185-8124-e100e603b677}">
          <p14:sldIdLst>
            <p14:sldId id="262"/>
            <p14:sldId id="263"/>
          </p14:sldIdLst>
        </p14:section>
        <p14:section name="LabVIEW" id="{e86e8bd5-ed36-00c9-1b87-eb46021d57be}">
          <p14:sldIdLst>
            <p14:sldId id="264"/>
            <p14:sldId id="265"/>
          </p14:sldIdLst>
        </p14:section>
        <p14:section name="Intelligence Layer" id="{786691a0-2145-777a-50f0-572379169776}">
          <p14:sldIdLst>
            <p14:sldId id="266"/>
            <p14:sldId id="267"/>
            <p14:sldId id="268"/>
          </p14:sldIdLst>
        </p14:section>
        <p14:section name="Results" id="{4ecdf627-988e-1e15-8735-c82a39e9e074}">
          <p14:sldIdLst>
            <p14:sldId id="269"/>
            <p14:sldId id="270"/>
            <p14:sldId id="271"/>
          </p14:sldIdLst>
        </p14:section>
        <p14:section name="Conclusion" id="{7ec91131-f506-7b56-3b3c-01451a1bad52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+mn-lt"/>
              </a:rPr>
              <a:t>Faults flagged (%), sim profile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 envelope</c:v>
                </c:pt>
              </c:strCache>
            </c:strRef>
          </c:tx>
          <c:spPr>
            <a:solidFill>
              <a:srgbClr val="B8251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Dry run</c:v>
                  </c:pt>
                  <c:pt idx="1">
                    <c:v>Blockage</c:v>
                  </c:pt>
                  <c:pt idx="2">
                    <c:v>Overload</c:v>
                  </c:pt>
                  <c:pt idx="3">
                    <c:v>Tank leak</c:v>
                  </c:pt>
                  <c:pt idx="4">
                    <c:v>Stuck relay</c:v>
                  </c:pt>
                  <c:pt idx="5">
                    <c:v>Overheat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95.6</c:v>
                </c:pt>
                <c:pt idx="1">
                  <c:v>63.9</c:v>
                </c:pt>
                <c:pt idx="2">
                  <c:v>99.9</c:v>
                </c:pt>
                <c:pt idx="3">
                  <c:v>99.9</c:v>
                </c:pt>
                <c:pt idx="4">
                  <c:v>100</c:v>
                </c:pt>
                <c:pt idx="5">
                  <c:v>40.5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Isolation Forest</c:v>
                </c:pt>
              </c:strCache>
            </c:strRef>
          </c:tx>
          <c:spPr>
            <a:solidFill>
              <a:srgbClr val="9A9A9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Dry run</c:v>
                  </c:pt>
                  <c:pt idx="1">
                    <c:v>Blockage</c:v>
                  </c:pt>
                  <c:pt idx="2">
                    <c:v>Overload</c:v>
                  </c:pt>
                  <c:pt idx="3">
                    <c:v>Tank leak</c:v>
                  </c:pt>
                  <c:pt idx="4">
                    <c:v>Stuck relay</c:v>
                  </c:pt>
                  <c:pt idx="5">
                    <c:v>Overheat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0.1</c:v>
                </c:pt>
                <c:pt idx="3">
                  <c:v>0</c:v>
                </c:pt>
                <c:pt idx="4">
                  <c:v>0.4</c:v>
                </c:pt>
                <c:pt idx="5">
                  <c:v>4.7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+mn-lt"/>
              </a:rPr>
              <a:t>Fault classifier recall per class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 (96.0%)</c:v>
                </c:pt>
              </c:strCache>
            </c:strRef>
          </c:tx>
          <c:spPr>
            <a:solidFill>
              <a:srgbClr val="B825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Normal</c:v>
                  </c:pt>
                  <c:pt idx="1">
                    <c:v>Gas leak</c:v>
                  </c:pt>
                  <c:pt idx="2">
                    <c:v>Overheat</c:v>
                  </c:pt>
                  <c:pt idx="3">
                    <c:v>Dry run</c:v>
                  </c:pt>
                  <c:pt idx="4">
                    <c:v>Blockage</c:v>
                  </c:pt>
                  <c:pt idx="5">
                    <c:v>Overload</c:v>
                  </c:pt>
                  <c:pt idx="6">
                    <c:v>Tank leak</c:v>
                  </c:pt>
                  <c:pt idx="7">
                    <c:v>Stuck relay</c:v>
                  </c:pt>
                  <c:pt idx="8">
                    <c:v>Valve stuck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98</c:v>
                </c:pt>
                <c:pt idx="1">
                  <c:v>98</c:v>
                </c:pt>
                <c:pt idx="2">
                  <c:v>77</c:v>
                </c:pt>
                <c:pt idx="3">
                  <c:v>97</c:v>
                </c:pt>
                <c:pt idx="4">
                  <c:v>94</c:v>
                </c:pt>
                <c:pt idx="5">
                  <c:v>99</c:v>
                </c:pt>
                <c:pt idx="6">
                  <c:v>91</c:v>
                </c:pt>
                <c:pt idx="7">
                  <c:v>99</c:v>
                </c:pt>
                <c:pt idx="8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Rig (96.3%)</c:v>
                </c:pt>
              </c:strCache>
            </c:strRef>
          </c:tx>
          <c:spPr>
            <a:solidFill>
              <a:srgbClr val="4A4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Normal</c:v>
                  </c:pt>
                  <c:pt idx="1">
                    <c:v>Gas leak</c:v>
                  </c:pt>
                  <c:pt idx="2">
                    <c:v>Overheat</c:v>
                  </c:pt>
                  <c:pt idx="3">
                    <c:v>Dry run</c:v>
                  </c:pt>
                  <c:pt idx="4">
                    <c:v>Blockage</c:v>
                  </c:pt>
                  <c:pt idx="5">
                    <c:v>Overload</c:v>
                  </c:pt>
                  <c:pt idx="6">
                    <c:v>Tank leak</c:v>
                  </c:pt>
                  <c:pt idx="7">
                    <c:v>Stuck relay</c:v>
                  </c:pt>
                  <c:pt idx="8">
                    <c:v>Valve stuck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99</c:v>
                </c:pt>
                <c:pt idx="1">
                  <c:v>98</c:v>
                </c:pt>
                <c:pt idx="2">
                  <c:v>98</c:v>
                </c:pt>
                <c:pt idx="3">
                  <c:v>94</c:v>
                </c:pt>
                <c:pt idx="4">
                  <c:v>91</c:v>
                </c:pt>
                <c:pt idx="5">
                  <c:v>63</c:v>
                </c:pt>
                <c:pt idx="6">
                  <c:v>96</c:v>
                </c:pt>
                <c:pt idx="7">
                  <c:v>98</c:v>
                </c:pt>
                <c:pt idx="8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a four-layer SCADA testbed with an ESP32 edge node, LabVIEW supervision, a Python intelligence layer and a web digital twin.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Aim: catch developing faults before they cause a trip, while keeping safety rule-based. Walk through the four objectives, one per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ESP32 -&gt; LabVIEW (Modbus TCP) -&gt; Python bridge (HTTP JSON) -&gt; web HMI. Commands flow back down. Safety is enforced in the ESP32 and the bridge; ML is advisory.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Thirteen parts make up the as-built rig. Sensors on the top rows, actuators and HMI below. The pump is a 12 V / 5 V mini centrifugal pump (about 0.1-0.5 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Boot-strapping pins 2, 12 and 15 are left free; the LEDs were moved to 23 and 13 for that reason. All 5 V signals into the ESP32 go through dividers.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wiring is verified. Remaining: DS18B20 pull-up, valve and fan driver wiring, and the calibration constants in the firmware. Replace the box with a photo of the assembled rig.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firmware trips on hard limits and also fails safe on any sensor fault: a dead sensor writes 0x7FFF so the bridge can never mistake it for a real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LabVIEW reads 9 holding registers and 3 coils from port 502, unit 1. Registers 40002 and 40005 are signed. 32767 means the sensor is faulty or warming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front panel: tank, temperature, gas and current indicators, alarm lamps and actuator switches. Replace the box with a screenshot of SCADA_Master_Controller.vi.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polling cycle: open Modbus session, read registers and coils, scale, build the JSON packet, POST to the bridge, parse the reply and write the actuator coils.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packet goes through the same pipeline. Invalid data trips to UNKNOWN immediately. Alerts need 4 consecutive detections to raise and 8 clean samples to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model answers one operator question. None of them can switch an actuator. Gas compensation and forecasts work even before any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Isolation Forest alone missed nearly every fault: its splits stop at the edge of the training data, so readings far outside it are not isolated faster. The mode envelope measures distance from normal and catches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Evaluated on held-out simulated episodes with a different seed. Overall fault accuracy is about 96 % on both profiles; the weakest classes are overheating (sim) and motor overload (rig).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3D workbench mirrors the rig, validates wiring and runs the firmware model with fault injection. The Predict panel shows live predictions; alerts pop up from any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and simulation testing is complete. Hardware validation is planned; fill in measured values after final wiring.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what was delivered, what remains (final wiring, calibration, on-rig retraining) and where it can go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17320"/>
            <a:ext cx="82296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2697480"/>
            <a:ext cx="7315200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jpg"/><Relationship Id="rId8" Type="http://schemas.openxmlformats.org/officeDocument/2006/relationships/image" Target="../media/image-4-8.jpg"/><Relationship Id="rId9" Type="http://schemas.openxmlformats.org/officeDocument/2006/relationships/image" Target="../media/image-4-9.jpg"/><Relationship Id="rId10" Type="http://schemas.openxmlformats.org/officeDocument/2006/relationships/image" Target="../media/image-4-10.jpg"/><Relationship Id="rId11" Type="http://schemas.openxmlformats.org/officeDocument/2006/relationships/image" Target="../media/image-4-11.jpg"/><Relationship Id="rId12" Type="http://schemas.openxmlformats.org/officeDocument/2006/relationships/image" Target="../media/image-4-12.jpg"/><Relationship Id="rId13" Type="http://schemas.openxmlformats.org/officeDocument/2006/relationships/image" Target="../media/image-4-13.jp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1732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IoT-Enabled Distributed SCADA &amp; Machine Learning-Based Predictive Anomaly Detection for Multi-Process Industrial Systems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914400" y="2697480"/>
            <a:ext cx="7315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Eklavya Vaid (B117), B.Tech (CE)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 Dhamani (A103), B.Tech (IT)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Solanki (I075), MBA Tech (IT)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Dattatray Sawant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: V   Subject : SCADA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Tech CE / IT  |  MBA Tech (IT)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: 2026 - 2027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2800" dirty="0"/>
          </a:p>
        </p:txBody>
      </p:sp>
      <p:sp>
        <p:nvSpPr>
          <p:cNvPr id="4" name="aim-card"/>
          <p:cNvSpPr/>
          <p:nvPr/>
        </p:nvSpPr>
        <p:spPr>
          <a:xfrm>
            <a:off x="457200" y="214884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F2D4D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834640"/>
            <a:ext cx="28346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low-cost SCADA testbed that keeps a multi-hazard process safe with deterministic interlocks and adds machine learning that spots developing faults before they cause a trip.</a:t>
            </a:r>
            <a:endParaRPr lang="en-US" sz="1900" dirty="0"/>
          </a:p>
        </p:txBody>
      </p:sp>
      <p:sp>
        <p:nvSpPr>
          <p:cNvPr id="7" name="objective-1"/>
          <p:cNvSpPr/>
          <p:nvPr/>
        </p:nvSpPr>
        <p:spPr>
          <a:xfrm>
            <a:off x="4069080" y="2258568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06908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148840"/>
            <a:ext cx="4114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496312"/>
            <a:ext cx="411480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reads 6 sensors, drives 3 actuators, serves Modbus TCP with fail-safe interlocks</a:t>
            </a:r>
            <a:endParaRPr lang="en-US" sz="1400" dirty="0"/>
          </a:p>
        </p:txBody>
      </p:sp>
      <p:sp>
        <p:nvSpPr>
          <p:cNvPr id="11" name="objective-2"/>
          <p:cNvSpPr/>
          <p:nvPr/>
        </p:nvSpPr>
        <p:spPr>
          <a:xfrm>
            <a:off x="4069080" y="3282696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06908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3172968"/>
            <a:ext cx="4114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520440"/>
            <a:ext cx="411480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LabVIEW polls the node and exchanges JSON with the Python bridge</a:t>
            </a:r>
            <a:endParaRPr lang="en-US" sz="1400" dirty="0"/>
          </a:p>
        </p:txBody>
      </p:sp>
      <p:sp>
        <p:nvSpPr>
          <p:cNvPr id="15" name="objective-3"/>
          <p:cNvSpPr/>
          <p:nvPr/>
        </p:nvSpPr>
        <p:spPr>
          <a:xfrm>
            <a:off x="4069080" y="4306824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6908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4197096"/>
            <a:ext cx="4114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544568"/>
            <a:ext cx="411480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ML: anomalies, fault class, pump health, gas calibration, forecasts</a:t>
            </a:r>
            <a:endParaRPr lang="en-US" sz="1400" dirty="0"/>
          </a:p>
        </p:txBody>
      </p:sp>
      <p:sp>
        <p:nvSpPr>
          <p:cNvPr id="19" name="objective-4"/>
          <p:cNvSpPr/>
          <p:nvPr/>
        </p:nvSpPr>
        <p:spPr>
          <a:xfrm>
            <a:off x="4069080" y="5330952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69080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5221224"/>
            <a:ext cx="4114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5568696"/>
            <a:ext cx="411480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HMI with a 3D digital twin, alerts and a detection log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System Architecture</a:t>
            </a:r>
            <a:endParaRPr lang="en-US" sz="2800" dirty="0"/>
          </a:p>
        </p:txBody>
      </p:sp>
      <p:sp>
        <p:nvSpPr>
          <p:cNvPr id="4" name="layer-1"/>
          <p:cNvSpPr/>
          <p:nvPr/>
        </p:nvSpPr>
        <p:spPr>
          <a:xfrm>
            <a:off x="457200" y="21488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2D4D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2203704"/>
            <a:ext cx="79552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ESP32 edge node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532888"/>
            <a:ext cx="7955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Level, temperature, gas, current, ambient, supply voltage · pump, valve, fan · local interlocks · Modbus TCP server</a:t>
            </a:r>
            <a:endParaRPr lang="en-US" sz="1300" dirty="0"/>
          </a:p>
        </p:txBody>
      </p:sp>
      <p:sp>
        <p:nvSpPr>
          <p:cNvPr id="7" name="layer-2"/>
          <p:cNvSpPr/>
          <p:nvPr/>
        </p:nvSpPr>
        <p:spPr>
          <a:xfrm>
            <a:off x="457200" y="32918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346704"/>
            <a:ext cx="36576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LabVIEW SCADA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675888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master, scaling, alarms, operator HMI, HTTP JSON client</a:t>
            </a:r>
            <a:endParaRPr lang="en-US" sz="1300" dirty="0"/>
          </a:p>
        </p:txBody>
      </p:sp>
      <p:sp>
        <p:nvSpPr>
          <p:cNvPr id="10" name="layer-3"/>
          <p:cNvSpPr/>
          <p:nvPr/>
        </p:nvSpPr>
        <p:spPr>
          <a:xfrm>
            <a:off x="4754880" y="32918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3346704"/>
            <a:ext cx="36576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Python bridge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3675888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rule-based safety, ML engine, alerts and logs</a:t>
            </a:r>
            <a:endParaRPr lang="en-US" sz="1300" dirty="0"/>
          </a:p>
        </p:txBody>
      </p:sp>
      <p:sp>
        <p:nvSpPr>
          <p:cNvPr id="13" name="layer-4"/>
          <p:cNvSpPr/>
          <p:nvPr/>
        </p:nvSpPr>
        <p:spPr>
          <a:xfrm>
            <a:off x="457200" y="44348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4489704"/>
            <a:ext cx="79552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Web HMI &amp; digital twin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4818888"/>
            <a:ext cx="7955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workbench, live predictions, alert pop-ups, detection log</a:t>
            </a:r>
            <a:endParaRPr lang="en-US" sz="1300" dirty="0"/>
          </a:p>
        </p:txBody>
      </p:sp>
      <p:sp>
        <p:nvSpPr>
          <p:cNvPr id="16" name="arrow-modbus"/>
          <p:cNvSpPr/>
          <p:nvPr/>
        </p:nvSpPr>
        <p:spPr>
          <a:xfrm>
            <a:off x="2423160" y="3017520"/>
            <a:ext cx="0" cy="274320"/>
          </a:xfrm>
          <a:prstGeom prst="line">
            <a:avLst/>
          </a:prstGeom>
          <a:noFill/>
          <a:ln w="25400">
            <a:solidFill>
              <a:srgbClr val="B8251D"/>
            </a:solidFill>
            <a:prstDash val="solid"/>
            <a:headEnd type="triangle"/>
            <a:tailEnd type="triangle"/>
          </a:ln>
        </p:spPr>
      </p:sp>
      <p:sp>
        <p:nvSpPr>
          <p:cNvPr id="17" name="arrow-http"/>
          <p:cNvSpPr/>
          <p:nvPr/>
        </p:nvSpPr>
        <p:spPr>
          <a:xfrm>
            <a:off x="4389120" y="3721608"/>
            <a:ext cx="365760" cy="0"/>
          </a:xfrm>
          <a:prstGeom prst="line">
            <a:avLst/>
          </a:prstGeom>
          <a:noFill/>
          <a:ln w="25400">
            <a:solidFill>
              <a:srgbClr val="B8251D"/>
            </a:solidFill>
            <a:prstDash val="solid"/>
            <a:headEnd type="triangle"/>
            <a:tailEnd type="triangle"/>
          </a:ln>
        </p:spPr>
      </p:sp>
      <p:sp>
        <p:nvSpPr>
          <p:cNvPr id="18" name="arrow-rest"/>
          <p:cNvSpPr/>
          <p:nvPr/>
        </p:nvSpPr>
        <p:spPr>
          <a:xfrm>
            <a:off x="6720840" y="4160520"/>
            <a:ext cx="0" cy="274320"/>
          </a:xfrm>
          <a:prstGeom prst="line">
            <a:avLst/>
          </a:prstGeom>
          <a:noFill/>
          <a:ln w="25400">
            <a:solidFill>
              <a:srgbClr val="B8251D"/>
            </a:solidFill>
            <a:prstDash val="solid"/>
            <a:headEnd type="triangle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256032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WebSocket</a:t>
            </a:r>
            <a:endParaRPr lang="en-US" sz="1100" dirty="0"/>
          </a:p>
        </p:txBody>
      </p:sp>
      <p:sp>
        <p:nvSpPr>
          <p:cNvPr id="21" name="safety-note"/>
          <p:cNvSpPr/>
          <p:nvPr/>
        </p:nvSpPr>
        <p:spPr>
          <a:xfrm>
            <a:off x="457200" y="5532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5577840"/>
            <a:ext cx="7863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stays rule-based: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thresholds run on the ESP32 and in the bridge. ML only raises alerts and advice, never switches an actuator.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 in Hardware</a:t>
            </a:r>
            <a:endParaRPr lang="en-US" sz="2800" dirty="0"/>
          </a:p>
        </p:txBody>
      </p:sp>
      <p:pic>
        <p:nvPicPr>
          <p:cNvPr id="4" name="photo-0" descr="ESP32 DevKit V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2148840"/>
            <a:ext cx="978408" cy="97840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145536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 V1</a:t>
            </a:r>
            <a:endParaRPr lang="en-US" sz="1200" dirty="0"/>
          </a:p>
        </p:txBody>
      </p:sp>
      <p:pic>
        <p:nvPicPr>
          <p:cNvPr id="6" name="photo-1" descr="HC-SR04 lev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148840"/>
            <a:ext cx="978408" cy="97840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2144268" y="3145536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level</a:t>
            </a:r>
            <a:endParaRPr lang="en-US" sz="1200" dirty="0"/>
          </a:p>
        </p:txBody>
      </p:sp>
      <p:pic>
        <p:nvPicPr>
          <p:cNvPr id="8" name="photo-2" descr="DS18B20 tem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796" y="2148840"/>
            <a:ext cx="978408" cy="978408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3831336" y="3145536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 temp</a:t>
            </a:r>
            <a:endParaRPr lang="en-US" sz="1200" dirty="0"/>
          </a:p>
        </p:txBody>
      </p:sp>
      <p:pic>
        <p:nvPicPr>
          <p:cNvPr id="10" name="photo-3" descr="MQ-2 g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64" y="2148840"/>
            <a:ext cx="978408" cy="978408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5518404" y="3145536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</a:t>
            </a:r>
            <a:endParaRPr lang="en-US" sz="1200" dirty="0"/>
          </a:p>
        </p:txBody>
      </p:sp>
      <p:pic>
        <p:nvPicPr>
          <p:cNvPr id="12" name="photo-4" descr="ACS712 curr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932" y="2148840"/>
            <a:ext cx="978408" cy="978408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7205472" y="3145536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ACS712 current</a:t>
            </a:r>
            <a:endParaRPr lang="en-US" sz="1200" dirty="0"/>
          </a:p>
        </p:txBody>
      </p:sp>
      <p:pic>
        <p:nvPicPr>
          <p:cNvPr id="14" name="photo-5" descr="BME280 ambien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3566160"/>
            <a:ext cx="978408" cy="97840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457200" y="4562856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BME280 ambient</a:t>
            </a:r>
            <a:endParaRPr lang="en-US" sz="1200" dirty="0"/>
          </a:p>
        </p:txBody>
      </p:sp>
      <p:pic>
        <p:nvPicPr>
          <p:cNvPr id="16" name="photo-6" descr="0-25 V senso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5728" y="3566160"/>
            <a:ext cx="978408" cy="978408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2144268" y="4562856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0-25 V sensor</a:t>
            </a:r>
            <a:endParaRPr lang="en-US" sz="1200" dirty="0"/>
          </a:p>
        </p:txBody>
      </p:sp>
      <p:pic>
        <p:nvPicPr>
          <p:cNvPr id="18" name="photo-7" descr="Relay modu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2796" y="3566160"/>
            <a:ext cx="978408" cy="978408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3831336" y="4562856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200" dirty="0"/>
          </a:p>
        </p:txBody>
      </p:sp>
      <p:pic>
        <p:nvPicPr>
          <p:cNvPr id="20" name="photo-8" descr="Submersible pump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9864" y="3566160"/>
            <a:ext cx="978408" cy="978408"/>
          </a:xfrm>
          <a:prstGeom prst="rect">
            <a:avLst/>
          </a:prstGeom>
        </p:spPr>
      </p:pic>
      <p:sp>
        <p:nvSpPr>
          <p:cNvPr id="21" name="Text 9"/>
          <p:cNvSpPr txBox="1"/>
          <p:nvPr/>
        </p:nvSpPr>
        <p:spPr>
          <a:xfrm>
            <a:off x="5518404" y="4562856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Submersible pump</a:t>
            </a:r>
            <a:endParaRPr lang="en-US" sz="1200" dirty="0"/>
          </a:p>
        </p:txBody>
      </p:sp>
      <p:pic>
        <p:nvPicPr>
          <p:cNvPr id="22" name="photo-9" descr="Solenoid valv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6932" y="3566160"/>
            <a:ext cx="978408" cy="978408"/>
          </a:xfrm>
          <a:prstGeom prst="rect">
            <a:avLst/>
          </a:prstGeom>
        </p:spPr>
      </p:pic>
      <p:sp>
        <p:nvSpPr>
          <p:cNvPr id="23" name="Text 10"/>
          <p:cNvSpPr txBox="1"/>
          <p:nvPr/>
        </p:nvSpPr>
        <p:spPr>
          <a:xfrm>
            <a:off x="7205472" y="4562856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 valve</a:t>
            </a:r>
            <a:endParaRPr lang="en-US" sz="1200" dirty="0"/>
          </a:p>
        </p:txBody>
      </p:sp>
      <p:pic>
        <p:nvPicPr>
          <p:cNvPr id="24" name="photo-10" descr="40 mm fa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" y="4983480"/>
            <a:ext cx="978408" cy="978408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457200" y="5980176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mm fan</a:t>
            </a:r>
            <a:endParaRPr lang="en-US" sz="1200" dirty="0"/>
          </a:p>
        </p:txBody>
      </p:sp>
      <p:pic>
        <p:nvPicPr>
          <p:cNvPr id="26" name="photo-11" descr="16x2 I2C LCD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95728" y="4983480"/>
            <a:ext cx="978408" cy="978408"/>
          </a:xfrm>
          <a:prstGeom prst="rect">
            <a:avLst/>
          </a:prstGeom>
        </p:spPr>
      </p:pic>
      <p:sp>
        <p:nvSpPr>
          <p:cNvPr id="27" name="Text 12"/>
          <p:cNvSpPr txBox="1"/>
          <p:nvPr/>
        </p:nvSpPr>
        <p:spPr>
          <a:xfrm>
            <a:off x="2144268" y="5980176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16x2 I2C LCD</a:t>
            </a:r>
            <a:endParaRPr lang="en-US" sz="1200" dirty="0"/>
          </a:p>
        </p:txBody>
      </p:sp>
      <p:pic>
        <p:nvPicPr>
          <p:cNvPr id="28" name="photo-12" descr="Breadboard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2796" y="4983480"/>
            <a:ext cx="978408" cy="978408"/>
          </a:xfrm>
          <a:prstGeom prst="rect">
            <a:avLst/>
          </a:prstGeom>
        </p:spPr>
      </p:pic>
      <p:sp>
        <p:nvSpPr>
          <p:cNvPr id="29" name="Text 13"/>
          <p:cNvSpPr txBox="1"/>
          <p:nvPr/>
        </p:nvSpPr>
        <p:spPr>
          <a:xfrm>
            <a:off x="3831336" y="5980176"/>
            <a:ext cx="148132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Connections: ESP32 Pin Map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39776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200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D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 ECHO (1k/1.5k divider)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 TRIG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DS18B20 data (4.7 kΩ pull-up)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MQ-2 AO (divider)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ACS712 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0-25 V sensor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/ 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I2C: LCD + BME280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148840"/>
          <a:ext cx="3977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063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D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 relay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 valve driver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 fan driver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 (healthy)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 (alarm)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2, 12, 15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free (boot pins)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TX0 / RX0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free (USB flashing)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power-card"/>
          <p:cNvSpPr/>
          <p:nvPr/>
        </p:nvSpPr>
        <p:spPr>
          <a:xfrm>
            <a:off x="457200" y="502920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40080" y="5074920"/>
            <a:ext cx="78638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 2 A rail for logic, sensors, relay and LCD; separate 12 V 2-3 A rail for pump, valve and fan; common ground. ESP32 3.3 V feeds the BME280 and DS18B20. Flyback diodes on the valve and fan coils.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Setup &amp; Integration Status</a:t>
            </a:r>
            <a:endParaRPr lang="en-US" sz="2800" dirty="0"/>
          </a:p>
        </p:txBody>
      </p:sp>
      <p:sp>
        <p:nvSpPr>
          <p:cNvPr id="4" name="rig-photo"/>
          <p:cNvSpPr/>
          <p:nvPr/>
        </p:nvSpPr>
        <p:spPr>
          <a:xfrm>
            <a:off x="457200" y="2148840"/>
            <a:ext cx="4206240" cy="4114800"/>
          </a:xfrm>
          <a:prstGeom prst="rect">
            <a:avLst/>
          </a:prstGeom>
          <a:solidFill>
            <a:srgbClr val="F3F3F3"/>
          </a:solidFill>
          <a:ln w="15875">
            <a:solidFill>
              <a:srgbClr val="8C8C8C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640080" y="214884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[TO ADD] </a:t>
            </a:r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Insert photo of the assembled hardware rig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checklist</a:t>
            </a:r>
            <a:endParaRPr lang="en-US" sz="1600" dirty="0"/>
          </a:p>
        </p:txBody>
      </p:sp>
      <p:sp>
        <p:nvSpPr>
          <p:cNvPr id="7" name="check-0"/>
          <p:cNvSpPr/>
          <p:nvPr/>
        </p:nvSpPr>
        <p:spPr>
          <a:xfrm>
            <a:off x="4937760" y="2670048"/>
            <a:ext cx="256032" cy="256032"/>
          </a:xfrm>
          <a:prstGeom prst="ellipse">
            <a:avLst/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37760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606040"/>
            <a:ext cx="3383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rails, 12 V barrel jack</a:t>
            </a:r>
            <a:endParaRPr lang="en-US" sz="1400" dirty="0"/>
          </a:p>
        </p:txBody>
      </p:sp>
      <p:sp>
        <p:nvSpPr>
          <p:cNvPr id="10" name="check-1"/>
          <p:cNvSpPr/>
          <p:nvPr/>
        </p:nvSpPr>
        <p:spPr>
          <a:xfrm>
            <a:off x="4937760" y="3127248"/>
            <a:ext cx="256032" cy="256032"/>
          </a:xfrm>
          <a:prstGeom prst="ellipse">
            <a:avLst/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37760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063240"/>
            <a:ext cx="3383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HC-SR04, MQ-2, BME280</a:t>
            </a:r>
            <a:endParaRPr lang="en-US" sz="1400" dirty="0"/>
          </a:p>
        </p:txBody>
      </p:sp>
      <p:sp>
        <p:nvSpPr>
          <p:cNvPr id="13" name="check-2"/>
          <p:cNvSpPr/>
          <p:nvPr/>
        </p:nvSpPr>
        <p:spPr>
          <a:xfrm>
            <a:off x="4937760" y="3584448"/>
            <a:ext cx="256032" cy="256032"/>
          </a:xfrm>
          <a:prstGeom prst="ellipse">
            <a:avLst/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37760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3520440"/>
            <a:ext cx="3383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ACS712, voltage sensor</a:t>
            </a:r>
            <a:endParaRPr lang="en-US" sz="1400" dirty="0"/>
          </a:p>
        </p:txBody>
      </p:sp>
      <p:sp>
        <p:nvSpPr>
          <p:cNvPr id="16" name="check-3"/>
          <p:cNvSpPr/>
          <p:nvPr/>
        </p:nvSpPr>
        <p:spPr>
          <a:xfrm>
            <a:off x="4937760" y="4041648"/>
            <a:ext cx="256032" cy="256032"/>
          </a:xfrm>
          <a:prstGeom prst="ellipse">
            <a:avLst/>
          </a:prstGeom>
          <a:solidFill>
            <a:srgbClr val="2E7D32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7760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3977640"/>
            <a:ext cx="3383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relay, LCD, status LEDs</a:t>
            </a:r>
            <a:endParaRPr lang="en-US" sz="1400" dirty="0"/>
          </a:p>
        </p:txBody>
      </p:sp>
      <p:sp>
        <p:nvSpPr>
          <p:cNvPr id="19" name="check-4"/>
          <p:cNvSpPr/>
          <p:nvPr/>
        </p:nvSpPr>
        <p:spPr>
          <a:xfrm>
            <a:off x="4937760" y="4498848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777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03520" y="4434840"/>
            <a:ext cx="3383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 4.7 kΩ pull-up</a:t>
            </a:r>
            <a:endParaRPr lang="en-US" sz="1400" dirty="0"/>
          </a:p>
        </p:txBody>
      </p:sp>
      <p:sp>
        <p:nvSpPr>
          <p:cNvPr id="21" name="check-5"/>
          <p:cNvSpPr/>
          <p:nvPr/>
        </p:nvSpPr>
        <p:spPr>
          <a:xfrm>
            <a:off x="4937760" y="4956048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777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03520" y="4892040"/>
            <a:ext cx="3383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+ fan driver wiring</a:t>
            </a:r>
            <a:endParaRPr lang="en-US" sz="1400" dirty="0"/>
          </a:p>
        </p:txBody>
      </p:sp>
      <p:sp>
        <p:nvSpPr>
          <p:cNvPr id="23" name="check-6"/>
          <p:cNvSpPr/>
          <p:nvPr/>
        </p:nvSpPr>
        <p:spPr>
          <a:xfrm>
            <a:off x="4937760" y="5413248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7770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303520" y="5349240"/>
            <a:ext cx="3383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R0, tank depth, divider ratios</a:t>
            </a:r>
            <a:endParaRPr lang="en-US" sz="1400" dirty="0"/>
          </a:p>
        </p:txBody>
      </p:sp>
      <p:sp>
        <p:nvSpPr>
          <p:cNvPr id="25" name="check-7"/>
          <p:cNvSpPr/>
          <p:nvPr/>
        </p:nvSpPr>
        <p:spPr>
          <a:xfrm>
            <a:off x="4937760" y="5870448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777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03520" y="5806440"/>
            <a:ext cx="3383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credentials, node IP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 &amp; Fail-Safe Interlocks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474720"/>
                <a:gridCol w="1188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D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 ≥ 88 %, gas ≥ 250 ppm, temp ≥ 70 °C or current ≥ 3.8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trip: pump off, drain opens on overflow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strobe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faulty or MQ-2 warming 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Fail-safe: pump off, fan on while gas unknown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solid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&gt; 80 ppm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 fan on (off below 45 ppm)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 ≤ 25 %, all sensors healthy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refill: pump on, valve closed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fw-fact-0"/>
          <p:cNvSpPr/>
          <p:nvPr/>
        </p:nvSpPr>
        <p:spPr>
          <a:xfrm>
            <a:off x="457200" y="4937760"/>
            <a:ext cx="2596896" cy="1325880"/>
          </a:xfrm>
          <a:prstGeom prst="roundRect">
            <a:avLst>
              <a:gd name="adj" fmla="val 5517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5001768"/>
            <a:ext cx="232257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conversions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94360" y="5349240"/>
            <a:ext cx="2322576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ACS712 (V - V0)/185 mV/A with boot zero; MQ-2 LPG curve</a:t>
            </a:r>
            <a:endParaRPr lang="en-US" sz="1300" dirty="0"/>
          </a:p>
        </p:txBody>
      </p:sp>
      <p:sp>
        <p:nvSpPr>
          <p:cNvPr id="8" name="fw-fact-1"/>
          <p:cNvSpPr/>
          <p:nvPr/>
        </p:nvSpPr>
        <p:spPr>
          <a:xfrm>
            <a:off x="3273552" y="4937760"/>
            <a:ext cx="2596896" cy="1325880"/>
          </a:xfrm>
          <a:prstGeom prst="roundRect">
            <a:avLst>
              <a:gd name="adj" fmla="val 5517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410712" y="5001768"/>
            <a:ext cx="232257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410712" y="5349240"/>
            <a:ext cx="2322576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 converts in the background so Modbus stays responsive</a:t>
            </a:r>
            <a:endParaRPr lang="en-US" sz="1300" dirty="0"/>
          </a:p>
        </p:txBody>
      </p:sp>
      <p:sp>
        <p:nvSpPr>
          <p:cNvPr id="11" name="fw-fact-2"/>
          <p:cNvSpPr/>
          <p:nvPr/>
        </p:nvSpPr>
        <p:spPr>
          <a:xfrm>
            <a:off x="6089904" y="4937760"/>
            <a:ext cx="2596896" cy="1325880"/>
          </a:xfrm>
          <a:prstGeom prst="roundRect">
            <a:avLst>
              <a:gd name="adj" fmla="val 5517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27064" y="5001768"/>
            <a:ext cx="2322576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227064" y="5349240"/>
            <a:ext cx="2322576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+ Wokwi targets · 14.9 % RAM · 81.7 % flash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Register Map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83464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D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÷10 →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temperature (signed)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÷10 → 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concentration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 current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÷100 →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 temperature (signed)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÷10 → 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humidity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÷10 → %RH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÷10 → hPa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voltage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÷100 →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MQ-2 raw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00001-3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 / valve / fan coils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entinel-card"/>
          <p:cNvSpPr/>
          <p:nvPr/>
        </p:nvSpPr>
        <p:spPr>
          <a:xfrm>
            <a:off x="6126480" y="2148840"/>
            <a:ext cx="2560320" cy="4023360"/>
          </a:xfrm>
          <a:prstGeom prst="roundRect">
            <a:avLst>
              <a:gd name="adj" fmla="val 2857"/>
            </a:avLst>
          </a:prstGeom>
          <a:solidFill>
            <a:srgbClr val="F2D4D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217920" y="2423160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0x7FFF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21792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sentinel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309360" y="3703320"/>
            <a:ext cx="21945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instead of a reading when a sensor is faulty, missing or warming up. It is out of range for signed and unsigned reads, so the bridge rejects it and inhibits the pump.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VI’s used in Front Panel</a:t>
            </a:r>
            <a:endParaRPr lang="en-US" sz="2800" dirty="0"/>
          </a:p>
        </p:txBody>
      </p:sp>
      <p:sp>
        <p:nvSpPr>
          <p:cNvPr id="4" name="fp-vi-0"/>
          <p:cNvSpPr/>
          <p:nvPr/>
        </p:nvSpPr>
        <p:spPr>
          <a:xfrm>
            <a:off x="457200" y="2240280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JKI Flat UI Controls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514600"/>
            <a:ext cx="27432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gauges, indicators and switches</a:t>
            </a:r>
            <a:endParaRPr lang="en-US" sz="1300" dirty="0"/>
          </a:p>
        </p:txBody>
      </p:sp>
      <p:sp>
        <p:nvSpPr>
          <p:cNvPr id="8" name="fp-vi-1"/>
          <p:cNvSpPr/>
          <p:nvPr/>
        </p:nvSpPr>
        <p:spPr>
          <a:xfrm>
            <a:off x="457200" y="3264408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172968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charts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538728"/>
            <a:ext cx="27432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trends of level, temperature, gas, current</a:t>
            </a:r>
            <a:endParaRPr lang="en-US" sz="1300" dirty="0"/>
          </a:p>
        </p:txBody>
      </p:sp>
      <p:sp>
        <p:nvSpPr>
          <p:cNvPr id="12" name="fp-vi-2"/>
          <p:cNvSpPr/>
          <p:nvPr/>
        </p:nvSpPr>
        <p:spPr>
          <a:xfrm>
            <a:off x="457200" y="4288536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4197096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indicators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4562856"/>
            <a:ext cx="27432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lamps and actuator states</a:t>
            </a:r>
            <a:endParaRPr lang="en-US" sz="1300" dirty="0"/>
          </a:p>
        </p:txBody>
      </p:sp>
      <p:sp>
        <p:nvSpPr>
          <p:cNvPr id="16" name="fp-vi-3"/>
          <p:cNvSpPr/>
          <p:nvPr/>
        </p:nvSpPr>
        <p:spPr>
          <a:xfrm>
            <a:off x="457200" y="5312664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5312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5221224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indicator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5586984"/>
            <a:ext cx="27432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recommendation and ML advisory</a:t>
            </a:r>
            <a:endParaRPr lang="en-US" sz="1300" dirty="0"/>
          </a:p>
        </p:txBody>
      </p:sp>
      <p:sp>
        <p:nvSpPr>
          <p:cNvPr id="20" name="front-panel-shot"/>
          <p:cNvSpPr/>
          <p:nvPr/>
        </p:nvSpPr>
        <p:spPr>
          <a:xfrm>
            <a:off x="3931920" y="2148840"/>
            <a:ext cx="4754880" cy="4069080"/>
          </a:xfrm>
          <a:prstGeom prst="rect">
            <a:avLst/>
          </a:prstGeom>
          <a:solidFill>
            <a:srgbClr val="F3F3F3"/>
          </a:solidFill>
          <a:ln w="15875">
            <a:solidFill>
              <a:srgbClr val="8C8C8C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4114800" y="2148840"/>
            <a:ext cx="438912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[TO ADD] </a:t>
            </a:r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of the LabVIEW front panel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VI’s used in Block Diagram</a:t>
            </a:r>
            <a:endParaRPr lang="en-US" sz="2800" dirty="0"/>
          </a:p>
        </p:txBody>
      </p:sp>
      <p:sp>
        <p:nvSpPr>
          <p:cNvPr id="4" name="bd-vi-0"/>
          <p:cNvSpPr/>
          <p:nvPr/>
        </p:nvSpPr>
        <p:spPr>
          <a:xfrm>
            <a:off x="457200" y="2240280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Modbus Library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514600"/>
            <a:ext cx="27432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master: read 9 registers + 3 coils, write coils</a:t>
            </a:r>
            <a:endParaRPr lang="en-US" sz="1300" dirty="0"/>
          </a:p>
        </p:txBody>
      </p:sp>
      <p:sp>
        <p:nvSpPr>
          <p:cNvPr id="8" name="bd-vi-1"/>
          <p:cNvSpPr/>
          <p:nvPr/>
        </p:nvSpPr>
        <p:spPr>
          <a:xfrm>
            <a:off x="457200" y="3264408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172968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alarm logic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538728"/>
            <a:ext cx="27432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units, signed reads for 40002/40005</a:t>
            </a:r>
            <a:endParaRPr lang="en-US" sz="1300" dirty="0"/>
          </a:p>
        </p:txBody>
      </p:sp>
      <p:sp>
        <p:nvSpPr>
          <p:cNvPr id="12" name="bd-vi-2"/>
          <p:cNvSpPr/>
          <p:nvPr/>
        </p:nvSpPr>
        <p:spPr>
          <a:xfrm>
            <a:off x="457200" y="4288536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4197096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/ Unflatten JSON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4562856"/>
            <a:ext cx="27432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cluster ↔ JSON packet</a:t>
            </a:r>
            <a:endParaRPr lang="en-US" sz="1300" dirty="0"/>
          </a:p>
        </p:txBody>
      </p:sp>
      <p:sp>
        <p:nvSpPr>
          <p:cNvPr id="16" name="bd-vi-3"/>
          <p:cNvSpPr/>
          <p:nvPr/>
        </p:nvSpPr>
        <p:spPr>
          <a:xfrm>
            <a:off x="457200" y="5312664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5312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5221224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POST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5586984"/>
            <a:ext cx="27432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telemetry, receives actuator commands</a:t>
            </a:r>
            <a:endParaRPr lang="en-US" sz="1300" dirty="0"/>
          </a:p>
        </p:txBody>
      </p:sp>
      <p:sp>
        <p:nvSpPr>
          <p:cNvPr id="20" name="block-diagram-shot"/>
          <p:cNvSpPr/>
          <p:nvPr/>
        </p:nvSpPr>
        <p:spPr>
          <a:xfrm>
            <a:off x="3931920" y="2148840"/>
            <a:ext cx="4754880" cy="4069080"/>
          </a:xfrm>
          <a:prstGeom prst="rect">
            <a:avLst/>
          </a:prstGeom>
          <a:solidFill>
            <a:srgbClr val="F3F3F3"/>
          </a:solidFill>
          <a:ln w="15875">
            <a:solidFill>
              <a:srgbClr val="8C8C8C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4114800" y="2148840"/>
            <a:ext cx="438912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[TO ADD] </a:t>
            </a:r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of the LabVIEW block diagram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Bridge: From Telemetry to Alerts</a:t>
            </a:r>
            <a:endParaRPr lang="en-US" sz="2800" dirty="0"/>
          </a:p>
        </p:txBody>
      </p:sp>
      <p:sp>
        <p:nvSpPr>
          <p:cNvPr id="4" name="step-0"/>
          <p:cNvSpPr/>
          <p:nvPr/>
        </p:nvSpPr>
        <p:spPr>
          <a:xfrm>
            <a:off x="457200" y="2148840"/>
            <a:ext cx="1627632" cy="822960"/>
          </a:xfrm>
          <a:prstGeom prst="homePlate">
            <a:avLst/>
          </a:prstGeom>
          <a:solidFill>
            <a:srgbClr val="2222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14884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063240"/>
            <a:ext cx="156362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bad or out-of-range data</a:t>
            </a:r>
            <a:endParaRPr lang="en-US" sz="1200" dirty="0"/>
          </a:p>
        </p:txBody>
      </p:sp>
      <p:sp>
        <p:nvSpPr>
          <p:cNvPr id="7" name="step-1"/>
          <p:cNvSpPr/>
          <p:nvPr/>
        </p:nvSpPr>
        <p:spPr>
          <a:xfrm>
            <a:off x="2130552" y="2148840"/>
            <a:ext cx="1627632" cy="822960"/>
          </a:xfrm>
          <a:prstGeom prst="chevron">
            <a:avLst/>
          </a:prstGeom>
          <a:solidFill>
            <a:srgbClr val="2222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78024" y="2148840"/>
            <a:ext cx="1106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130552" y="3063240"/>
            <a:ext cx="156362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/ WARNING / TRIP + interlocks</a:t>
            </a:r>
            <a:endParaRPr lang="en-US" sz="1200" dirty="0"/>
          </a:p>
        </p:txBody>
      </p:sp>
      <p:sp>
        <p:nvSpPr>
          <p:cNvPr id="10" name="step-2"/>
          <p:cNvSpPr/>
          <p:nvPr/>
        </p:nvSpPr>
        <p:spPr>
          <a:xfrm>
            <a:off x="3803904" y="2148840"/>
            <a:ext cx="1627632" cy="822960"/>
          </a:xfrm>
          <a:prstGeom prst="chevron">
            <a:avLst/>
          </a:prstGeom>
          <a:solidFill>
            <a:srgbClr val="B825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51376" y="2148840"/>
            <a:ext cx="1106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803904" y="3063240"/>
            <a:ext cx="156362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advisory models</a:t>
            </a:r>
            <a:endParaRPr lang="en-US" sz="1200" dirty="0"/>
          </a:p>
        </p:txBody>
      </p:sp>
      <p:sp>
        <p:nvSpPr>
          <p:cNvPr id="13" name="step-3"/>
          <p:cNvSpPr/>
          <p:nvPr/>
        </p:nvSpPr>
        <p:spPr>
          <a:xfrm>
            <a:off x="5477256" y="2148840"/>
            <a:ext cx="1627632" cy="822960"/>
          </a:xfrm>
          <a:prstGeom prst="chevron">
            <a:avLst/>
          </a:prstGeom>
          <a:solidFill>
            <a:srgbClr val="2222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24728" y="2148840"/>
            <a:ext cx="1106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77256" y="3063240"/>
            <a:ext cx="156362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after 4, clear after 8</a:t>
            </a:r>
            <a:endParaRPr lang="en-US" sz="1200" dirty="0"/>
          </a:p>
        </p:txBody>
      </p:sp>
      <p:sp>
        <p:nvSpPr>
          <p:cNvPr id="16" name="step-4"/>
          <p:cNvSpPr/>
          <p:nvPr/>
        </p:nvSpPr>
        <p:spPr>
          <a:xfrm>
            <a:off x="7150608" y="2148840"/>
            <a:ext cx="1627632" cy="822960"/>
          </a:xfrm>
          <a:prstGeom prst="chevron">
            <a:avLst/>
          </a:prstGeom>
          <a:solidFill>
            <a:srgbClr val="2222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0" y="2148840"/>
            <a:ext cx="1106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log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150608" y="3063240"/>
            <a:ext cx="156362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 pop-up, events.csv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D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/api/telemetry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LabVIEW packet in, health + actuator commands 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/api/predictions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ML predictions, alerts, model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/api/alerts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alerts and detection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command, subject to interlocks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Analytics: Five Models</a:t>
            </a:r>
            <a:endParaRPr lang="en-US" sz="2800" dirty="0"/>
          </a:p>
        </p:txBody>
      </p:sp>
      <p:sp>
        <p:nvSpPr>
          <p:cNvPr id="4" name="model-0"/>
          <p:cNvSpPr/>
          <p:nvPr/>
        </p:nvSpPr>
        <p:spPr>
          <a:xfrm>
            <a:off x="457200" y="214884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model-badge-0"/>
          <p:cNvSpPr/>
          <p:nvPr/>
        </p:nvSpPr>
        <p:spPr>
          <a:xfrm>
            <a:off x="594360" y="2313432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185416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2185416"/>
            <a:ext cx="2651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envelope + Isolation Forest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185416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something off?</a:t>
            </a:r>
            <a:endParaRPr lang="en-US" sz="1300" dirty="0"/>
          </a:p>
        </p:txBody>
      </p:sp>
      <p:sp>
        <p:nvSpPr>
          <p:cNvPr id="10" name="model-1"/>
          <p:cNvSpPr/>
          <p:nvPr/>
        </p:nvSpPr>
        <p:spPr>
          <a:xfrm>
            <a:off x="457200" y="29718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model-badge-1"/>
          <p:cNvSpPr/>
          <p:nvPr/>
        </p:nvSpPr>
        <p:spPr>
          <a:xfrm>
            <a:off x="594360" y="3136392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008376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classification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3008376"/>
            <a:ext cx="2651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24-sample window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3008376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9 faults is it?</a:t>
            </a:r>
            <a:endParaRPr lang="en-US" sz="1300" dirty="0"/>
          </a:p>
        </p:txBody>
      </p:sp>
      <p:sp>
        <p:nvSpPr>
          <p:cNvPr id="16" name="model-2"/>
          <p:cNvSpPr/>
          <p:nvPr/>
        </p:nvSpPr>
        <p:spPr>
          <a:xfrm>
            <a:off x="457200" y="379476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model-badge-2"/>
          <p:cNvSpPr/>
          <p:nvPr/>
        </p:nvSpPr>
        <p:spPr>
          <a:xfrm>
            <a:off x="594360" y="3959352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831336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health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3831336"/>
            <a:ext cx="2651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126480" y="3831336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worn is the pump (0-100)?</a:t>
            </a:r>
            <a:endParaRPr lang="en-US" sz="1300" dirty="0"/>
          </a:p>
        </p:txBody>
      </p:sp>
      <p:sp>
        <p:nvSpPr>
          <p:cNvPr id="22" name="model-3"/>
          <p:cNvSpPr/>
          <p:nvPr/>
        </p:nvSpPr>
        <p:spPr>
          <a:xfrm>
            <a:off x="457200" y="46177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model-badge-3"/>
          <p:cNvSpPr/>
          <p:nvPr/>
        </p:nvSpPr>
        <p:spPr>
          <a:xfrm>
            <a:off x="594360" y="4782312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4360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4654296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calibration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474720" y="4654296"/>
            <a:ext cx="2651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+ datasheet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126480" y="4654296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ppm at this temperature and humidity?</a:t>
            </a:r>
            <a:endParaRPr lang="en-US" sz="1300" dirty="0"/>
          </a:p>
        </p:txBody>
      </p:sp>
      <p:sp>
        <p:nvSpPr>
          <p:cNvPr id="28" name="model-4"/>
          <p:cNvSpPr/>
          <p:nvPr/>
        </p:nvSpPr>
        <p:spPr>
          <a:xfrm>
            <a:off x="457200" y="544068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model-badge-4"/>
          <p:cNvSpPr/>
          <p:nvPr/>
        </p:nvSpPr>
        <p:spPr>
          <a:xfrm>
            <a:off x="594360" y="5605272"/>
            <a:ext cx="384048" cy="384048"/>
          </a:xfrm>
          <a:prstGeom prst="ellipse">
            <a:avLst/>
          </a:prstGeom>
          <a:solidFill>
            <a:srgbClr val="B8251D"/>
          </a:solidFill>
          <a:ln w="12700">
            <a:solidFill>
              <a:srgbClr val="B8251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4360" y="5605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097280" y="5477256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3474720" y="5477256"/>
            <a:ext cx="2651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trend over ~60 samples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126480" y="5477256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will a limit be reached?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Anomaly Detectors</a:t>
            </a:r>
            <a:endParaRPr lang="en-US" sz="2800" dirty="0"/>
          </a:p>
        </p:txBody>
      </p:sp>
      <p:graphicFrame>
        <p:nvGraphicFramePr>
          <p:cNvPr id="4" name="anomaly-chart" descr=""/>
          <p:cNvGraphicFramePr/>
          <p:nvPr/>
        </p:nvGraphicFramePr>
        <p:xfrm>
          <a:off x="457200" y="214884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why-card"/>
          <p:cNvSpPr/>
          <p:nvPr/>
        </p:nvSpPr>
        <p:spPr>
          <a:xfrm>
            <a:off x="6217920" y="2148840"/>
            <a:ext cx="2468880" cy="4114800"/>
          </a:xfrm>
          <a:prstGeom prst="roundRect">
            <a:avLst>
              <a:gd name="adj" fmla="val 2963"/>
            </a:avLst>
          </a:prstGeom>
          <a:solidFill>
            <a:srgbClr val="F2D4D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309360" y="237744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1.6%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6355080" y="3108960"/>
            <a:ext cx="2194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per sample before debouncing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355080" y="3931920"/>
            <a:ext cx="21945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catches out-of-range dynamics; the forest is a second opinion on odd combinations of in-range readings.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Results</a:t>
            </a:r>
            <a:endParaRPr lang="en-US" sz="2800" dirty="0"/>
          </a:p>
        </p:txBody>
      </p:sp>
      <p:sp>
        <p:nvSpPr>
          <p:cNvPr id="4" name="stat-0"/>
          <p:cNvSpPr/>
          <p:nvPr/>
        </p:nvSpPr>
        <p:spPr>
          <a:xfrm>
            <a:off x="457200" y="2148840"/>
            <a:ext cx="2596896" cy="1143000"/>
          </a:xfrm>
          <a:prstGeom prst="roundRect">
            <a:avLst>
              <a:gd name="adj" fmla="val 6400"/>
            </a:avLst>
          </a:prstGeom>
          <a:solidFill>
            <a:srgbClr val="F2D4D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2194560"/>
            <a:ext cx="259689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34640"/>
            <a:ext cx="241401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classifier accuracy (sim)</a:t>
            </a:r>
            <a:endParaRPr lang="en-US" sz="1200" dirty="0"/>
          </a:p>
        </p:txBody>
      </p:sp>
      <p:sp>
        <p:nvSpPr>
          <p:cNvPr id="7" name="stat-1"/>
          <p:cNvSpPr/>
          <p:nvPr/>
        </p:nvSpPr>
        <p:spPr>
          <a:xfrm>
            <a:off x="3273552" y="2148840"/>
            <a:ext cx="2596896" cy="1143000"/>
          </a:xfrm>
          <a:prstGeom prst="roundRect">
            <a:avLst>
              <a:gd name="adj" fmla="val 6400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73552" y="2194560"/>
            <a:ext cx="259689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→ 6%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364992" y="2834640"/>
            <a:ext cx="241401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error with T/RH compensation</a:t>
            </a:r>
            <a:endParaRPr lang="en-US" sz="1200" dirty="0"/>
          </a:p>
        </p:txBody>
      </p:sp>
      <p:sp>
        <p:nvSpPr>
          <p:cNvPr id="10" name="stat-2"/>
          <p:cNvSpPr/>
          <p:nvPr/>
        </p:nvSpPr>
        <p:spPr>
          <a:xfrm>
            <a:off x="6089904" y="2148840"/>
            <a:ext cx="2596896" cy="1143000"/>
          </a:xfrm>
          <a:prstGeom prst="roundRect">
            <a:avLst>
              <a:gd name="adj" fmla="val 6400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89904" y="2194560"/>
            <a:ext cx="259689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181344" y="2834640"/>
            <a:ext cx="241401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alerts in a 60 s normal live run</a:t>
            </a:r>
            <a:endParaRPr lang="en-US" sz="1200" dirty="0"/>
          </a:p>
        </p:txBody>
      </p:sp>
      <p:graphicFrame>
        <p:nvGraphicFramePr>
          <p:cNvPr id="13" name="recall-chart" descr=""/>
          <p:cNvGraphicFramePr/>
          <p:nvPr/>
        </p:nvGraphicFramePr>
        <p:xfrm>
          <a:off x="457200" y="3429000"/>
          <a:ext cx="82296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&amp; Web HMI</a:t>
            </a:r>
            <a:endParaRPr lang="en-US" sz="2800" dirty="0"/>
          </a:p>
        </p:txBody>
      </p:sp>
      <p:pic>
        <p:nvPicPr>
          <p:cNvPr id="4" name="twin-shot" descr="3D digital twin of the SCADA ri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48840"/>
            <a:ext cx="4937760" cy="30861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5303520"/>
            <a:ext cx="49377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workbench: CAD models, wiring check, firmware model, fault injection</a:t>
            </a:r>
            <a:endParaRPr lang="en-US" sz="1200" dirty="0"/>
          </a:p>
        </p:txBody>
      </p:sp>
      <p:sp>
        <p:nvSpPr>
          <p:cNvPr id="6" name="predict-shot"/>
          <p:cNvSpPr/>
          <p:nvPr/>
        </p:nvSpPr>
        <p:spPr>
          <a:xfrm>
            <a:off x="5577840" y="2148840"/>
            <a:ext cx="3108960" cy="4069080"/>
          </a:xfrm>
          <a:prstGeom prst="rect">
            <a:avLst/>
          </a:prstGeom>
          <a:solidFill>
            <a:srgbClr val="F3F3F3"/>
          </a:solidFill>
          <a:ln w="15875">
            <a:solidFill>
              <a:srgbClr val="8C8C8C"/>
            </a:solidFill>
            <a:prstDash val="dash"/>
          </a:ln>
        </p:spPr>
      </p:sp>
      <p:sp>
        <p:nvSpPr>
          <p:cNvPr id="7" name="Text 3"/>
          <p:cNvSpPr txBox="1"/>
          <p:nvPr/>
        </p:nvSpPr>
        <p:spPr>
          <a:xfrm>
            <a:off x="5760720" y="2148840"/>
            <a:ext cx="27432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[TO ADD] </a:t>
            </a:r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of the Predict panel during a fault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56032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15 / 15, frontend tests 15 / 15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builds for board and Wokwi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feeder run: dry run, gas leak, stuck relay, overload, worn pump all detected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run: zero false alerts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rig (pending)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560320"/>
          <a:ext cx="3931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vs ruler (±1 cm)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ADD]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DS18B20 vs thermometer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ADD]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ACS712 vs multimeter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ADD]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LabVIEW 200 ms poll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ADD]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Overflow / gas trip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ADD]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Sensor-fault fail-safe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ADD]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 latency &lt; 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ADD]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conclusion-card"/>
          <p:cNvSpPr/>
          <p:nvPr/>
        </p:nvSpPr>
        <p:spPr>
          <a:xfrm>
            <a:off x="457200" y="2148840"/>
            <a:ext cx="3977640" cy="4069080"/>
          </a:xfrm>
          <a:prstGeom prst="roundRect">
            <a:avLst>
              <a:gd name="adj" fmla="val 1839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2286000"/>
            <a:ext cx="3611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3611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four-layer SCADA stack, firmware to web HMI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safety on ESP32 and bridge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catches faults that never cross a threshold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Remaining: final wiring, calibration, on-rig tests</a:t>
            </a:r>
            <a:endParaRPr lang="en-US" sz="1700" dirty="0"/>
          </a:p>
        </p:txBody>
      </p:sp>
      <p:sp>
        <p:nvSpPr>
          <p:cNvPr id="7" name="future-card"/>
          <p:cNvSpPr/>
          <p:nvPr/>
        </p:nvSpPr>
        <p:spPr>
          <a:xfrm>
            <a:off x="4709160" y="2148840"/>
            <a:ext cx="3977640" cy="406908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2286000"/>
            <a:ext cx="3611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2743200"/>
            <a:ext cx="3611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models on logged rig data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MQ-2 against a reference meter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three nodes (gas/fire, electrical load)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Modbus / VPN and HMI login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historian and trend views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MIMS SCADA">
  <a:themeElements>
    <a:clrScheme name="NMIMS SCADA">
      <a:dk1>
        <a:srgbClr val="222222"/>
      </a:dk1>
      <a:lt1>
        <a:srgbClr val="FFFFFF"/>
      </a:lt1>
      <a:dk2>
        <a:srgbClr val="B8251D"/>
      </a:dk2>
      <a:lt2>
        <a:srgbClr val="F3F3F3"/>
      </a:lt2>
      <a:accent1>
        <a:srgbClr val="B8251D"/>
      </a:accent1>
      <a:accent2>
        <a:srgbClr val="4A4A4A"/>
      </a:accent2>
      <a:accent3>
        <a:srgbClr val="8C8C8C"/>
      </a:accent3>
      <a:accent4>
        <a:srgbClr val="F2D4D2"/>
      </a:accent4>
      <a:accent5>
        <a:srgbClr val="2E7D32"/>
      </a:accent5>
      <a:accent6>
        <a:srgbClr val="C77700"/>
      </a:accent6>
      <a:hlink>
        <a:srgbClr val="B8251D"/>
      </a:hlink>
      <a:folHlink>
        <a:srgbClr val="7A1812"/>
      </a:folHlink>
    </a:clrScheme>
    <a:fontScheme name="NMIMS SCAD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SVKM NMIMS MPSTME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IoT-Enabled Distributed SCADA &amp; ML-Based Predictive Anomaly Detection</dc:title>
  <dc:subject>PptxGenJS Presentation</dc:subject>
  <dc:creator>Eklavya Vaid, Arka Dhamani, Krishna Solanki</dc:creator>
  <cp:lastModifiedBy>Eklavya Vaid, Arka Dhamani, Krishna Solanki</cp:lastModifiedBy>
  <cp:revision>1</cp:revision>
  <dcterms:created xsi:type="dcterms:W3CDTF">2026-10-29T05:25:50Z</dcterms:created>
  <dcterms:modified xsi:type="dcterms:W3CDTF">2026-10-29T05:25:50Z</dcterms:modified>
</cp:coreProperties>
</file>