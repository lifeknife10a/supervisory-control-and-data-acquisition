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70" r:id="rId3"/>
    <p:sldId id="271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91" r:id="rId13"/>
    <p:sldId id="288" r:id="rId14"/>
    <p:sldId id="287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47"/>
  </p:normalViewPr>
  <p:slideViewPr>
    <p:cSldViewPr snapToGrid="0" snapToObjects="1">
      <p:cViewPr varScale="1">
        <p:scale>
          <a:sx n="110" d="100"/>
          <a:sy n="110" d="100"/>
        </p:scale>
        <p:origin x="208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dge Accent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7C8B"/>
                </a:solidFill>
                <a:latin typeface="Segoe UI"/>
              </a:defRPr>
            </a:pPr>
            <a:r>
              <a:t>PROJECT PROPOSAL</a:t>
            </a:r>
          </a:p>
          <a:p>
            <a:pPr>
              <a:spcAft>
                <a:spcPts val="1000"/>
              </a:spcAft>
              <a:defRPr sz="3600" b="1">
                <a:solidFill>
                  <a:srgbClr val="0B2545"/>
                </a:solidFill>
                <a:latin typeface="Segoe UI"/>
              </a:defRPr>
            </a:pPr>
            <a:r>
              <a:t>IoT-Enabled Distributed SCADA &amp; Machine Learning Diagnostics</a:t>
            </a:r>
          </a:p>
          <a:p>
            <a:pPr>
              <a:defRPr sz="1700">
                <a:solidFill>
                  <a:srgbClr val="49606F"/>
                </a:solidFill>
                <a:latin typeface="Segoe UI"/>
              </a:defRPr>
            </a:pPr>
            <a:r>
              <a:t>Design Proposal for a Four-Layer Distributed Process Control &amp; Safety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C8B"/>
                </a:solidFill>
                <a:latin typeface="Segoe UI"/>
              </a:defRPr>
            </a:pPr>
            <a:r>
              <a:t>DEVELOPED BY</a:t>
            </a:r>
          </a:p>
          <a:p>
            <a:pPr>
              <a:spcAft>
                <a:spcPts val="400"/>
              </a:spcAft>
              <a:defRPr sz="1400">
                <a:solidFill>
                  <a:srgbClr val="0B2545"/>
                </a:solidFill>
                <a:latin typeface="Segoe UI"/>
              </a:defRPr>
            </a:pPr>
            <a:r>
              <a:t>Eklavya Vaid (B117) — B.Tech CE</a:t>
            </a:r>
          </a:p>
          <a:p>
            <a:pPr>
              <a:spcAft>
                <a:spcPts val="400"/>
              </a:spcAft>
              <a:defRPr sz="1400">
                <a:solidFill>
                  <a:srgbClr val="0B2545"/>
                </a:solidFill>
                <a:latin typeface="Segoe UI"/>
              </a:defRPr>
            </a:pPr>
            <a:r>
              <a:t>Arka Dhamani (A103) — B.Tech IT</a:t>
            </a:r>
          </a:p>
          <a:p>
            <a:pPr>
              <a:spcAft>
                <a:spcPts val="400"/>
              </a:spcAft>
              <a:defRPr sz="1400">
                <a:solidFill>
                  <a:srgbClr val="0B2545"/>
                </a:solidFill>
                <a:latin typeface="Segoe UI"/>
              </a:defRPr>
            </a:pPr>
            <a:r>
              <a:t>Krishna Solanki (I075) — MBA Tech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C8B"/>
                </a:solidFill>
                <a:latin typeface="Segoe UI"/>
              </a:defRPr>
            </a:pPr>
            <a:r>
              <a:t>PROJECT PARAMETERS</a:t>
            </a:r>
          </a:p>
          <a:p>
            <a:pPr>
              <a:spcAft>
                <a:spcPts val="400"/>
              </a:spcAft>
              <a:defRPr sz="1400">
                <a:solidFill>
                  <a:srgbClr val="0B2545"/>
                </a:solidFill>
                <a:latin typeface="Segoe UI"/>
              </a:defRPr>
            </a:pPr>
            <a:r>
              <a:t>Guided by: Dr. Dattatray Sawant</a:t>
            </a:r>
          </a:p>
          <a:p>
            <a:pPr>
              <a:spcAft>
                <a:spcPts val="400"/>
              </a:spcAft>
              <a:defRPr sz="1400">
                <a:solidFill>
                  <a:srgbClr val="0B2545"/>
                </a:solidFill>
                <a:latin typeface="Segoe UI"/>
              </a:defRPr>
            </a:pPr>
            <a:r>
              <a:t>Semester V | Subject: SCADA</a:t>
            </a:r>
          </a:p>
          <a:p>
            <a:pPr>
              <a:spcAft>
                <a:spcPts val="400"/>
              </a:spcAft>
              <a:defRPr sz="1400">
                <a:solidFill>
                  <a:srgbClr val="0B2545"/>
                </a:solidFill>
                <a:latin typeface="Segoe UI"/>
              </a:defRPr>
            </a:pPr>
            <a:r>
              <a:t>Academic Year 2026–2027</a:t>
            </a:r>
          </a:p>
        </p:txBody>
      </p:sp>
      <p:sp>
        <p:nvSpPr>
          <p:cNvPr id="91" name="Divider"/>
          <p:cNvSpPr/>
          <p:nvPr/>
        </p:nvSpPr>
        <p:spPr>
          <a:xfrm>
            <a:off x="914400" y="3810000"/>
            <a:ext cx="10337800" cy="12700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974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Project Vision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E7C8B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0B2545"/>
                </a:solidFill>
                <a:latin typeface="Segoe UI"/>
              </a:defRPr>
            </a:pPr>
            <a:r>
              <a:t>Distributed Edge Control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Deploy cheap, localized ESP32 microcontrollers as RTUs rather than a single expensive DAQ.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Utilize Wi-Fi networking to allow independent, localized loops that avoid central wiring hazards.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Ensure local node safety: nodes default to safe outputs if network connectivity is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E7C8B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0B2545"/>
                </a:solidFill>
                <a:latin typeface="Segoe UI"/>
              </a:defRPr>
            </a:pPr>
            <a:r>
              <a:t>Supervisory Orchestration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Leverage LabVIEW as the central SCADA hub to orchestrate distributed processes.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Run closed-loop PID control and safety interlocks (Emergency Shutdown Matrix) at a deterministic 200ms rate.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Package live plant tags into JSON payloads for external diagnostic ingestion.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E7C8B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0B2545"/>
                </a:solidFill>
                <a:latin typeface="Segoe UI"/>
              </a:defRPr>
            </a:pPr>
            <a:r>
              <a:t>Intelligent Operations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Establish a local Python backend (FastAPI) to process telemetry and host WebSockets.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Deploy Machine Learning (Random Forest classifier) to predict sensor drift and system faults before they trigger ESD.</a:t>
            </a:r>
          </a:p>
          <a:p>
            <a:pPr>
              <a:spcAft>
                <a:spcPts val="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Serve a high-fidelity React dashboard for modern operator monitoring and manual overrides.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551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Proposed 4-Layer SCADA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2545"/>
                </a:solidFill>
                <a:latin typeface="Segoe UI"/>
              </a:defRPr>
            </a:pPr>
            <a:r>
              <a:t>Physical Edge Nodes (ESP32)   |   Protocol: Modbus TCP/IP (Port 502)</a:t>
            </a:r>
          </a:p>
          <a:p>
            <a:pPr>
              <a:defRPr sz="1150">
                <a:solidFill>
                  <a:srgbClr val="3E5060"/>
                </a:solidFill>
                <a:latin typeface="Segoe UI"/>
              </a:defRPr>
            </a:pPr>
            <a:r>
              <a:t>3 independent wireless nodes running Arduino C++ server code. Acquire level, temperature, gas, and grid load telemetry locally and execute local safety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971800"/>
            <a:ext cx="640080" cy="64008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2545"/>
                </a:solidFill>
                <a:latin typeface="Segoe UI"/>
              </a:defRPr>
            </a:pPr>
            <a:r>
              <a:t>Supervisory SCADA Engine (LabVIEW)   |   Protocol: Modbus Client &amp; HTTP Client</a:t>
            </a:r>
          </a:p>
          <a:p>
            <a:pPr>
              <a:defRPr sz="1150">
                <a:solidFill>
                  <a:srgbClr val="3E5060"/>
                </a:solidFill>
                <a:latin typeface="Segoe UI"/>
              </a:defRPr>
            </a:pPr>
            <a:r>
              <a:t>Central control loop polls edge nodes every 200ms. Runs closed-loop PID level/heating control, evaluates safety interlocks, and pushes JSON telemetry to the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2545"/>
                </a:solidFill>
                <a:latin typeface="Segoe UI"/>
              </a:defRPr>
            </a:pPr>
            <a:r>
              <a:t>Intelligence Backend (Python FastAPI)   |   Protocol: REST API &amp; WebSockets</a:t>
            </a:r>
          </a:p>
          <a:p>
            <a:pPr>
              <a:defRPr sz="1150">
                <a:solidFill>
                  <a:srgbClr val="3E5060"/>
                </a:solidFill>
                <a:latin typeface="Segoe UI"/>
              </a:defRPr>
            </a:pPr>
            <a:r>
              <a:t>Receives JSON telemetry logs, runs real-time Machine Learning classification ( anomaly detection ), logs data, and broadcasts data + status predictions via WebSockets.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5349240"/>
            <a:ext cx="640080" cy="64008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03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2545"/>
                </a:solidFill>
                <a:latin typeface="Segoe UI"/>
              </a:defRPr>
            </a:pPr>
            <a:r>
              <a:t>Operator Web HMI (React)   |   Protocol: WebSocket Client Connection</a:t>
            </a:r>
          </a:p>
          <a:p>
            <a:pPr>
              <a:defRPr sz="1150">
                <a:solidFill>
                  <a:srgbClr val="3E5060"/>
                </a:solidFill>
                <a:latin typeface="Segoe UI"/>
              </a:defRPr>
            </a:pPr>
            <a:r>
              <a:t>High-fidelity, responsive single-page browser dashboard (Vite + Tailwind). Renders live trend charts (Recharts), gauge alarms, and allows remote manual overrides.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4061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Layer 1: Proposed Wireless Edge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1549400"/>
            <a:ext cx="3327400" cy="447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78000"/>
            <a:ext cx="2959100" cy="40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NODE 1: PROCESS PLANT</a:t>
            </a:r>
          </a:p>
          <a:p>
            <a:pPr>
              <a:spcAft>
                <a:spcPts val="1500"/>
              </a:spcAft>
              <a:defRPr sz="1400" b="1">
                <a:solidFill>
                  <a:srgbClr val="0E7C8B"/>
                </a:solidFill>
                <a:latin typeface="Segoe UI"/>
              </a:defRPr>
            </a:pPr>
            <a:r>
              <a:t>Static IP: 192.168.1.101</a:t>
            </a:r>
          </a:p>
          <a:p>
            <a:pPr>
              <a:spcAft>
                <a:spcPts val="12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PROPOSED SENSORS: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HC-SR04 Ultrasonic (Liquid Level)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DS18B20 1-Wire (Temperature)</a:t>
            </a:r>
          </a:p>
          <a:p>
            <a:pPr>
              <a:spcAft>
                <a:spcPts val="12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PROPOSED ACTUATORS: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5V Relay for Submersible Pump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12V Ceramic Heating Cartridge</a:t>
            </a:r>
          </a:p>
          <a:p>
            <a:pPr>
              <a:spcAft>
                <a:spcPts val="6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NODE CONTROL LOGIC:</a:t>
            </a:r>
          </a:p>
          <a:p>
            <a:pPr>
              <a:defRPr sz="950">
                <a:solidFill>
                  <a:srgbClr val="3E5060"/>
                </a:solidFill>
                <a:latin typeface="Segoe UI"/>
              </a:defRPr>
            </a:pPr>
            <a:r>
              <a:t>Simulates a liquid control chamber. LabVIEW reads level &amp; temp, running closed-loop PID control outputs back to the node to actuate the pump &amp; heater.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1549400"/>
            <a:ext cx="3327400" cy="447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0100" y="1778000"/>
            <a:ext cx="2959100" cy="40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NODE 2: SAFETY &amp; HAZARDS</a:t>
            </a:r>
          </a:p>
          <a:p>
            <a:pPr>
              <a:spcAft>
                <a:spcPts val="1500"/>
              </a:spcAft>
              <a:defRPr sz="1400" b="1">
                <a:solidFill>
                  <a:srgbClr val="0E7C8B"/>
                </a:solidFill>
                <a:latin typeface="Segoe UI"/>
              </a:defRPr>
            </a:pPr>
            <a:r>
              <a:t>Static IP: 192.168.1.102</a:t>
            </a:r>
          </a:p>
          <a:p>
            <a:pPr>
              <a:spcAft>
                <a:spcPts val="12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PROPOSED SENSORS: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MQ-2 Gas / Smoke Sensor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Infrared Flame/Fire Sensor</a:t>
            </a:r>
          </a:p>
          <a:p>
            <a:pPr>
              <a:spcAft>
                <a:spcPts val="12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PROPOSED ACTUATORS: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5V Active Piezo Buzzer (Alarm)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5V DC Brushless Exhaust Fan</a:t>
            </a:r>
          </a:p>
          <a:p>
            <a:pPr>
              <a:spcAft>
                <a:spcPts val="6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NODE CONTROL LOGIC:</a:t>
            </a:r>
          </a:p>
          <a:p>
            <a:pPr>
              <a:defRPr sz="950">
                <a:solidFill>
                  <a:srgbClr val="3E5060"/>
                </a:solidFill>
                <a:latin typeface="Segoe UI"/>
              </a:defRPr>
            </a:pPr>
            <a:r>
              <a:t>Monitors environmental hazards. Highest priority node. If thresholds are breached, local interrupts sound the buzzer and trip the LabVIEW safety shutdown.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5300" y="1549400"/>
            <a:ext cx="3327400" cy="447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5800" y="1778000"/>
            <a:ext cx="2959100" cy="40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NODE 3: POWER SUB-STATION</a:t>
            </a:r>
          </a:p>
          <a:p>
            <a:pPr>
              <a:spcAft>
                <a:spcPts val="1500"/>
              </a:spcAft>
              <a:defRPr sz="1400" b="1">
                <a:solidFill>
                  <a:srgbClr val="0E7C8B"/>
                </a:solidFill>
                <a:latin typeface="Segoe UI"/>
              </a:defRPr>
            </a:pPr>
            <a:r>
              <a:t>Static IP: 192.168.1.103</a:t>
            </a:r>
          </a:p>
          <a:p>
            <a:pPr>
              <a:spcAft>
                <a:spcPts val="12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PROPOSED SENSORS: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ACS712 Current Sensor (5A)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Voltage Divider Circuit (0-25V DC)</a:t>
            </a:r>
          </a:p>
          <a:p>
            <a:pPr>
              <a:spcAft>
                <a:spcPts val="12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PROPOSED ACTUATORS: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5V Dual-Channel Relay (Breakers)</a:t>
            </a:r>
          </a:p>
          <a:p>
            <a:pPr>
              <a:spcAft>
                <a:spcPts val="6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• 12V DC Auxiliary Test Loads</a:t>
            </a:r>
          </a:p>
          <a:p>
            <a:pPr>
              <a:spcAft>
                <a:spcPts val="600"/>
              </a:spcAft>
              <a:defRPr sz="1300" b="1">
                <a:solidFill>
                  <a:srgbClr val="3E5060"/>
                </a:solidFill>
                <a:latin typeface="Segoe UI"/>
              </a:defRPr>
            </a:pPr>
            <a:r>
              <a:t>NODE CONTROL LOGIC:</a:t>
            </a:r>
          </a:p>
          <a:p>
            <a:pPr>
              <a:defRPr sz="950">
                <a:solidFill>
                  <a:srgbClr val="3E5060"/>
                </a:solidFill>
                <a:latin typeface="Segoe UI"/>
              </a:defRPr>
            </a:pPr>
            <a:r>
              <a:t>Simulates an electrical grid breaker. Measures load current and voltage. LabVIEW monitors power metrics and executes load-shedding if overload is detected.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88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Components Used in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0B2545"/>
                </a:solidFill>
                <a:latin typeface="Segoe UI"/>
              </a:defRPr>
            </a:pPr>
            <a:r>
              <a:t>MICROCONTROLLERS &amp; SENSORS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ESP32 NodeMCU Development Board — 3 Qty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HC-SR04 Ultrasonic Distance Sensor — 1 Qty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DS18B20 Waterproof Temperature Sensor — 1 Qty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MQ-2 Combustible Gas Sensor Module — 1 Qty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Infrared Flame / Fire Sensor Module — 1 Qty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ACS712 Current Sensor Board (5A) — 1 Qty</a:t>
            </a:r>
          </a:p>
          <a:p>
            <a:pPr>
              <a:spcAft>
                <a:spcPts val="104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Voltage Sensor Module (0-25V DC Divider) — 1 Qty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19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9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0B2545"/>
                </a:solidFill>
                <a:latin typeface="Segoe UI"/>
              </a:defRPr>
            </a:pPr>
            <a:r>
              <a:t>ACTUATORS &amp; UTILITIES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5V Submersible Water Pump + Tubing — 1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12V Ceramic Heating Cartridge — 1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5V DC Brushless Fan (Exhaust Vent) — 1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5V Single-Channel Relay Modules — 2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5V Dual-Channel Relay Board — 1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Active Piezo Buzzer Board — 1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12V DC Auxiliary Load Bulbs/Motors — 2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Wi-Fi Router (Local Gateway Node) — 1 Qty</a:t>
            </a:r>
          </a:p>
          <a:p>
            <a:pPr>
              <a:spcAft>
                <a:spcPts val="780"/>
              </a:spcAft>
              <a:defRPr sz="1400">
                <a:solidFill>
                  <a:srgbClr val="3E5060"/>
                </a:solidFill>
                <a:latin typeface="Segoe UI"/>
              </a:defRPr>
            </a:pPr>
            <a:r>
              <a:t>• Breadboard &amp; Interconnecting Jumper Wires — 1 Set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7721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Proposed Modbus Register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E5060"/>
                </a:solidFill>
                <a:latin typeface="Segoe UI"/>
              </a:defRPr>
            </a:pPr>
            <a:r>
              <a:t>All ESP32 wireless nodes will run standard Modbus TCP servers on Port 502, mapped with the following register addresses: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Register Type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Address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 / Tag Name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Scale &amp; Format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1 (192.168.1.101)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Input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30100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Water Level Percentage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0 - 100% (Integer)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1 (192.168.1.101)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Input Register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30101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Liquid Temperature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Temp * 10 (Float scale)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1 (192.168.1.101)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Coil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00200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Water Pump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 = Off, 1 =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1 (192.168.1.101)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Holding Register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40300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Heater Power Level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0 - 100% (Duty cycle)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2 (192.168.1.102)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Input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30100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Combustible Gas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PPM 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2 (192.168.1.102)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Discrete Input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10200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Infrared Flame Detection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 = Safe, 1 = Fire Detected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2 (192.168.1.102)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Coil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00300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Ventilation Fan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 = Off, 1 =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3 (192.168.1.103)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Input Register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30100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Substation Load Current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Current draw in mA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3 (192.168.1.103)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Input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30101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Grid Bus Voltage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Voltage level in 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Node 3 (192.168.1.103)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Coil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00200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Relay Breakers 1 &amp; 2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E5060"/>
                          </a:solidFill>
                          <a:latin typeface="Segoe UI"/>
                        </a:defRPr>
                      </a:pPr>
                      <a:r>
                        <a:t>0 = Open, 1 = Closed</a:t>
                      </a:r>
                    </a:p>
                  </a:txBody>
                  <a:tcPr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9072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Layer 2: LabVIEW Supervisory Engine (Proposed)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PROPOSED CONTROL LOOPS</a:t>
            </a:r>
          </a:p>
          <a:p>
            <a:pPr>
              <a:spcAft>
                <a:spcPts val="8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• Deterministic Polling: Set up a LabVIEW Producer-Consumer loop mapping to the 3 Modbus TCP IPs, polling registers every 200ms.</a:t>
            </a:r>
          </a:p>
          <a:p>
            <a:pPr>
              <a:spcAft>
                <a:spcPts val="8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• Hysteresis Level Control: Run a simple level bang-bang hysteresis band loop in LabVIEW. If level &lt; 40%, water pump turns ON. If level &gt; 80%, pump turns OFF to prevent pump wear.</a:t>
            </a:r>
          </a:p>
          <a:p>
            <a:pPr>
              <a:spcAft>
                <a:spcPts val="8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• Temperature PID Loop: Deploy standard LabVIEW PID.vi targeting a setpoint. Output value (0-100) will be clamped and written to Node 1's holding register, modulating heater PWM.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19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9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PROPOSED SAFETY INTERLOCKS (ESD)</a:t>
            </a:r>
          </a:p>
          <a:p>
            <a:pPr>
              <a:spcAft>
                <a:spcPts val="8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• Continuous Safety Checks: Implement a logic matrix in LabVIEW evaluated before committing any outputs. Safety interrupts override normal control outputs instantly.</a:t>
            </a:r>
          </a:p>
          <a:p>
            <a:pPr>
              <a:spcAft>
                <a:spcPts val="8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• Emergency Shutdown (ESD): If Node 2 registers high gas PPM or fires the flame sensor, LabVIEW will force immediate shutdown state: pump OFF, heater 0%, buzzer ON, exhaust fan ON, load relays OPEN.</a:t>
            </a:r>
          </a:p>
          <a:p>
            <a:pPr>
              <a:spcAft>
                <a:spcPts val="8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• Modbus Loss Watchdog: If LabVIEW misses Modbus telemetry connection for &gt;3 consecutive cycles (600ms), it automatically trips the local plant to prevent unmonitored hazards.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6097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VI's Used in Front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List Panel"/>
          <p:cNvSpPr/>
          <p:nvPr/>
        </p:nvSpPr>
        <p:spPr>
          <a:xfrm>
            <a:off x="736600" y="1574800"/>
            <a:ext cx="10693400" cy="452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" y="1854200"/>
            <a:ext cx="10033000" cy="396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• JKI FLAT UI CONTROLS PACK</a:t>
            </a:r>
          </a:p>
          <a:p>
            <a:pPr>
              <a:spcAft>
                <a:spcPts val="13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   Package Link: https://vipm.io/package/jki_flat_ui_controls/   |   Replaces standard gray controls with modern flat buttons, indicators, switches, and graphs.</a:t>
            </a:r>
          </a:p>
          <a:p>
            <a:pPr>
              <a:spcAft>
                <a:spcPts val="35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• LABVIEW WEBSOCKETS LIBRARY (MEDIAMONGRELS)</a:t>
            </a:r>
          </a:p>
          <a:p>
            <a:pPr>
              <a:spcAft>
                <a:spcPts val="13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   Package Link: https://vipm.io/package/mediamongrels_lib_websockets/   |   Allows browser HMI client to connect and capture telemetry data stream directly.</a:t>
            </a:r>
          </a:p>
          <a:p>
            <a:pPr>
              <a:spcAft>
                <a:spcPts val="35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• JKI JSON SERIALIZATION LIBRARY</a:t>
            </a:r>
          </a:p>
          <a:p>
            <a:pPr>
              <a:spcAft>
                <a:spcPts val="13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   Package Link: https://vipm.io/package/jki_lib_json_serialization/   |   Converts cluster UI controls to web-readable JSON variables for UI updates.</a:t>
            </a:r>
          </a:p>
          <a:p>
            <a:pPr>
              <a:spcAft>
                <a:spcPts val="35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• JKI HTTP REST CLIENT</a:t>
            </a:r>
          </a:p>
          <a:p>
            <a:pPr>
              <a:spcAft>
                <a:spcPts val="13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   Package Link: https://vipm.io/package/jki_lib_rest_client/   |   Allows UI trigger events to execute POST requests to Python endpoints.</a:t>
            </a:r>
          </a:p>
          <a:p>
            <a:pPr>
              <a:spcAft>
                <a:spcPts val="35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• MQTT LIBRARY FOR LABVIEW</a:t>
            </a:r>
          </a:p>
          <a:p>
            <a:pPr>
              <a:spcAft>
                <a:spcPts val="1300"/>
              </a:spcAft>
              <a:defRPr sz="1250">
                <a:solidFill>
                  <a:srgbClr val="3E5060"/>
                </a:solidFill>
                <a:latin typeface="Segoe UI"/>
              </a:defRPr>
            </a:pPr>
            <a:r>
              <a:t>   Package Link: https://vipm.io/package/ni_lib_mqtt/   |   Enables visual indicator tags to subscribe directly to cloud messaging brokers.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defRPr sz="1100">
                <a:solidFill>
                  <a:srgbClr val="93A5B1"/>
                </a:solidFill>
                <a:latin typeface="Segoe UI"/>
              </a:defRPr>
            </a:pPr>
            <a:r>
              <a:rPr lang="en-US" sz="1100" dirty="0">
                <a:solidFill>
                  <a:srgbClr val="93A5B1"/>
                </a:solidFill>
                <a:latin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7600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VI's Used in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List Panel"/>
          <p:cNvSpPr/>
          <p:nvPr/>
        </p:nvSpPr>
        <p:spPr>
          <a:xfrm>
            <a:off x="736600" y="1574800"/>
            <a:ext cx="10693400" cy="452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" y="1854200"/>
            <a:ext cx="10033000" cy="396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400"/>
              </a:spcAft>
              <a:defRPr sz="1600" b="1">
                <a:solidFill>
                  <a:srgbClr val="0B2545"/>
                </a:solidFill>
                <a:latin typeface="Segoe UI"/>
              </a:defRPr>
            </a:pPr>
            <a:r>
              <a:t>• NI MODBUS LIBRARY</a:t>
            </a:r>
          </a:p>
          <a:p>
            <a:pPr>
              <a:spcAft>
                <a:spcPts val="1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   Package Link: https://vipm.io/package/ni_lib_modbus/   |   Instantiates Modbus Master TCP sessions to connect, poll, and write to the 3 ESP32 nodes.</a:t>
            </a:r>
          </a:p>
          <a:p>
            <a:pPr>
              <a:spcAft>
                <a:spcPts val="400"/>
              </a:spcAft>
              <a:defRPr sz="1600" b="1">
                <a:solidFill>
                  <a:srgbClr val="0B2545"/>
                </a:solidFill>
                <a:latin typeface="Segoe UI"/>
              </a:defRPr>
            </a:pPr>
            <a:r>
              <a:t>• NI PID CONTROL TOOLKIT VIS</a:t>
            </a:r>
          </a:p>
          <a:p>
            <a:pPr>
              <a:spcAft>
                <a:spcPts val="1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   Package Link: https://www.ni.com/en-support/downloads/toolsnetwork/pid-control-toolkit.html   |   Calculates closed-loop thermal response outputs using PID.vi on Node 1.</a:t>
            </a:r>
          </a:p>
          <a:p>
            <a:pPr>
              <a:spcAft>
                <a:spcPts val="400"/>
              </a:spcAft>
              <a:defRPr sz="1600" b="1">
                <a:solidFill>
                  <a:srgbClr val="0B2545"/>
                </a:solidFill>
                <a:latin typeface="Segoe UI"/>
              </a:defRPr>
            </a:pPr>
            <a:r>
              <a:t>• LABVIEW DATABASE CONNECTIVITY TOOLKIT</a:t>
            </a:r>
          </a:p>
          <a:p>
            <a:pPr>
              <a:spcAft>
                <a:spcPts val="1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   Package Link: https://www.ni.com/en-support/downloads/software-products/download.database-connectivity-toolkit.html   |   Enables logging telemetry strings directly to local databases (Access/SQL/CSV).</a:t>
            </a:r>
          </a:p>
          <a:p>
            <a:pPr>
              <a:spcAft>
                <a:spcPts val="400"/>
              </a:spcAft>
              <a:defRPr sz="1600" b="1">
                <a:solidFill>
                  <a:srgbClr val="0B2545"/>
                </a:solidFill>
                <a:latin typeface="Segoe UI"/>
              </a:defRPr>
            </a:pPr>
            <a:r>
              <a:t>• LABVIEW HTTP CLIENT (HTTP CLIENT.LVLIB)</a:t>
            </a:r>
          </a:p>
          <a:p>
            <a:pPr>
              <a:spcAft>
                <a:spcPts val="1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   Package Link: https://www.ni.com/en-support/downloads/software-products/download.labview.html   |   Built-in POST engine executing JSON transmissions to FastAPI server endpoints.</a:t>
            </a:r>
          </a:p>
          <a:p>
            <a:pPr>
              <a:spcAft>
                <a:spcPts val="400"/>
              </a:spcAft>
              <a:defRPr sz="1600" b="1">
                <a:solidFill>
                  <a:srgbClr val="0B2545"/>
                </a:solidFill>
                <a:latin typeface="Segoe UI"/>
              </a:defRPr>
            </a:pPr>
            <a:r>
              <a:t>• LABVIEW JSON SERIALIZATION (JSON.LVLIB)</a:t>
            </a:r>
          </a:p>
          <a:p>
            <a:pPr>
              <a:spcAft>
                <a:spcPts val="1800"/>
              </a:spcAft>
              <a:defRPr sz="1300">
                <a:solidFill>
                  <a:srgbClr val="3E5060"/>
                </a:solidFill>
                <a:latin typeface="Segoe UI"/>
              </a:defRPr>
            </a:pPr>
            <a:r>
              <a:t>   Package Link: https://www.ni.com/en-support/downloads/software-products/download.labview.html   |   Built-in palette VIs used to flatten clusters to raw JSON strings on the diagram.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dirty="0">
                <a:solidFill>
                  <a:srgbClr val="93A5B1"/>
                </a:solidFill>
                <a:latin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0418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Layer 3: Python Backend &amp; ML (Proposed)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PROPOSED FASTAPI API SURFACE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REST /api/telemetry (POST): Receives the raw JSON data packets from LabVIEW's HTTP Client every 200ms.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WebSocket /ws/live: Broadcasts the incoming telemetry and active ML classifications to all connected React web clients.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Historian Logger: Appends telemetry logs to a local database (CSV or SQLite) to build a historical time-series model.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REST /api/history (GET): Exposes API endpoint for React frontend to backfill historical trend charts when loading.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19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9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7C8B"/>
                </a:solidFill>
                <a:latin typeface="Segoe UI"/>
              </a:defRPr>
            </a:pPr>
            <a:r>
              <a:t>PROPOSED MACHINE LEARNING MODEL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Feature Input Vector: Reads four parameters: [Level %, Temperature °C, Gas PPM, Current draw mA] in real-time.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Training Strategy: We will write a python script to generate a synthetic training dataset simulating healthy cycles, sensor drift, leak anomalies, and electrical grid spikes.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Random Forest Classifier: We will train a Random Forest classifier in Python, export it as a .pkl file, and load it into FastAPI to classify state in under 5ms.</a:t>
            </a:r>
          </a:p>
          <a:p>
            <a:pPr>
              <a:spcAft>
                <a:spcPts val="800"/>
              </a:spcAft>
              <a:defRPr sz="1050">
                <a:solidFill>
                  <a:srgbClr val="3E5060"/>
                </a:solidFill>
                <a:latin typeface="Segoe UI"/>
              </a:defRPr>
            </a:pPr>
            <a:r>
              <a:t>• Operational Classes: Output health diagnostics: Class 0 (Healthy), Class 1 (Warning: Sensor Drift/Low Current), Class 2 (System Anomaly/Fault - triggers alarm).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dirty="0">
                <a:solidFill>
                  <a:srgbClr val="93A5B1"/>
                </a:solidFill>
                <a:latin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57113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Layer 4: React Web HMI Dashboard (Proposed)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PROPOSED WEB DASHBOARD STACK</a:t>
            </a:r>
          </a:p>
          <a:p>
            <a:pPr>
              <a:spcAft>
                <a:spcPts val="12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React &amp; Vite: Build a lightweight Single Page Application (SPA) leveraging Vite for compilation and rendering speed.</a:t>
            </a:r>
          </a:p>
          <a:p>
            <a:pPr>
              <a:spcAft>
                <a:spcPts val="12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Tailwind CSS: Apply rich, responsive dark-mode styling with glassmorphic cards (semi-transparent backgrounds with borders) matching modern automation interfaces.</a:t>
            </a:r>
          </a:p>
          <a:p>
            <a:pPr>
              <a:spcAft>
                <a:spcPts val="12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Low-Latency WebSockets: Connect the web browser directly to the FastAPI server. Renders live sensor fluctuations with sub-100ms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1900" y="1574800"/>
            <a:ext cx="51181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900" y="1803400"/>
            <a:ext cx="46101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7C8B"/>
                </a:solidFill>
                <a:latin typeface="Segoe UI"/>
              </a:defRPr>
            </a:pPr>
            <a:r>
              <a:t>PROPOSED VISUAL COMPONENTS</a:t>
            </a:r>
          </a:p>
          <a:p>
            <a:pPr>
              <a:spcAft>
                <a:spcPts val="12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Real-time Charts: Integrate Recharts libraries to plot sliding line graphs tracking water level and temperature fluctuations over time.</a:t>
            </a:r>
          </a:p>
          <a:p>
            <a:pPr>
              <a:spcAft>
                <a:spcPts val="12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Color-Coded Status Gauges: Implement radial gauge charts for gas PPM. Add visual indicators showing water pump, exhaust fan, and circuit breaker status.</a:t>
            </a:r>
          </a:p>
          <a:p>
            <a:pPr>
              <a:spcAft>
                <a:spcPts val="12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ML Diagnostic Panel: Show a diagnostic console displaying the active ML health classification, prediction probability, and time since the last update.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dirty="0">
                <a:solidFill>
                  <a:srgbClr val="93A5B1"/>
                </a:solidFill>
                <a:latin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27502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Proposed Implementation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2565400"/>
            <a:ext cx="24638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5200" y="2794000"/>
            <a:ext cx="2006600" cy="248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E7C8B"/>
                </a:solidFill>
                <a:latin typeface="Segoe UI"/>
              </a:defRPr>
            </a:pPr>
            <a:r>
              <a:t>PHASE 1  (Weeks 1–3)</a:t>
            </a:r>
          </a:p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Hardware &amp; Polling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Procure all sensors &amp; ESP32s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Implement Modbus TCP code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Verify local sensor accuracy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Establish LabVIEW polling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9800" y="2565400"/>
            <a:ext cx="24638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8400" y="2794000"/>
            <a:ext cx="2006600" cy="248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E7C8B"/>
                </a:solidFill>
                <a:latin typeface="Segoe UI"/>
              </a:defRPr>
            </a:pPr>
            <a:r>
              <a:t>PHASE 2  (Weeks 4–6)</a:t>
            </a:r>
          </a:p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Backend API &amp; ML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Construct FastAPI server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Develop JSON ingestion endpoint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Collect training data records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Train Random Forest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2565400"/>
            <a:ext cx="24638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1600" y="2794000"/>
            <a:ext cx="2006600" cy="248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E7C8B"/>
                </a:solidFill>
                <a:latin typeface="Segoe UI"/>
              </a:defRPr>
            </a:pPr>
            <a:r>
              <a:t>PHASE 3  (Weeks 7–8)</a:t>
            </a:r>
          </a:p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React Dashboard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Structure React frontend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Establish WebSockets link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Plot real-time telemetry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Implement override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6200" y="2565400"/>
            <a:ext cx="24638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94800" y="2794000"/>
            <a:ext cx="2006600" cy="248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E7C8B"/>
                </a:solidFill>
                <a:latin typeface="Segoe UI"/>
              </a:defRPr>
            </a:pPr>
            <a:r>
              <a:t>PHASE 4  (Weeks 9–10)</a:t>
            </a:r>
          </a:p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Segoe UI"/>
              </a:defRPr>
            </a:pPr>
            <a:r>
              <a:t>Integration &amp; Test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Integrate all four layers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Validate safety ESD interlocks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Calibrate current thresholds</a:t>
            </a:r>
          </a:p>
          <a:p>
            <a:pPr>
              <a:spcAft>
                <a:spcPts val="60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Final project presentation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dirty="0">
                <a:solidFill>
                  <a:srgbClr val="93A5B1"/>
                </a:solidFill>
                <a:latin typeface="Segoe UI"/>
              </a:rPr>
              <a:t>12</a:t>
            </a:r>
          </a:p>
        </p:txBody>
      </p:sp>
      <p:sp>
        <p:nvSpPr>
          <p:cNvPr id="93" name="Timeline Spine"/>
          <p:cNvSpPr/>
          <p:nvPr/>
        </p:nvSpPr>
        <p:spPr>
          <a:xfrm>
            <a:off x="1968500" y="2413000"/>
            <a:ext cx="8229600" cy="254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Phase Dot"/>
          <p:cNvSpPr/>
          <p:nvPr/>
        </p:nvSpPr>
        <p:spPr>
          <a:xfrm>
            <a:off x="1892300" y="2349500"/>
            <a:ext cx="152400" cy="15240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Phase Dot"/>
          <p:cNvSpPr/>
          <p:nvPr/>
        </p:nvSpPr>
        <p:spPr>
          <a:xfrm>
            <a:off x="4635500" y="2349500"/>
            <a:ext cx="152400" cy="15240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Phase Dot"/>
          <p:cNvSpPr/>
          <p:nvPr/>
        </p:nvSpPr>
        <p:spPr>
          <a:xfrm>
            <a:off x="7378700" y="2349500"/>
            <a:ext cx="152400" cy="15240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Phase Dot"/>
          <p:cNvSpPr/>
          <p:nvPr/>
        </p:nvSpPr>
        <p:spPr>
          <a:xfrm>
            <a:off x="10121900" y="2349500"/>
            <a:ext cx="152400" cy="15240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842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C8B"/>
                </a:solidFill>
                <a:latin typeface="Segoe UI"/>
              </a:defRPr>
            </a:pPr>
            <a:r>
              <a:t>SCADA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Expected Deliverables &amp;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600" y="12700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6600" y="1574800"/>
            <a:ext cx="5118100" cy="396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803400"/>
            <a:ext cx="4610100" cy="355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PROPOSED HARDWARE &amp; SOFTWARE DELIVERABLES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Functional Hardware Testbed: Three wireless nodes successfully executing sensor acquisition and relay controls over Modbus TCP.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LabVIEW SCADA Core: A local program that aggregates node telemetry, handles PID control, safety overrides, and logs telemetry values.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Python FastAPI Server: Hosts REST interfaces and broadcasts streams with low latency.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React HMI Operator Dashboard: A browser-based SPA showing live gauges, switches, and trend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1900" y="1574800"/>
            <a:ext cx="5118100" cy="396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900" y="1803400"/>
            <a:ext cx="4610100" cy="355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EXPECTED OPERATIONAL CRITERIA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Polling Loop Success: Maintain a stable 200ms supervisory cycle time in LabVIEW with zero dropped Modbus frames under normal operations.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Low-Latency Alarm Response: If a gas leak or fire is detected, system trips to ESD state and annunciates on the React web HMI in under 1 second.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ML Diagnostic Accuracy: Train the anomaly classifier to achieve &gt;90% validation accuracy on the simulated dataset.</a:t>
            </a:r>
          </a:p>
          <a:p>
            <a:pPr>
              <a:spcAft>
                <a:spcPts val="1120"/>
              </a:spcAft>
              <a:defRPr sz="1350">
                <a:solidFill>
                  <a:srgbClr val="3E5060"/>
                </a:solidFill>
                <a:latin typeface="Segoe UI"/>
              </a:defRPr>
            </a:pPr>
            <a:r>
              <a:t>• Local Watchdog Functionality: Verify that if Wi-Fi connection drops, nodes instantly isolate their relays locally to prevent unmonitored operation.</a:t>
            </a:r>
          </a:p>
        </p:txBody>
      </p:sp>
      <p:sp>
        <p:nvSpPr>
          <p:cNvPr id="90" name="Header Hairline"/>
          <p:cNvSpPr/>
          <p:nvPr/>
        </p:nvSpPr>
        <p:spPr>
          <a:xfrm>
            <a:off x="1701800" y="1282700"/>
            <a:ext cx="9728200" cy="12700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/>
          <p:nvPr/>
        </p:nvSpPr>
        <p:spPr>
          <a:xfrm>
            <a:off x="10160000" y="6324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dirty="0">
                <a:solidFill>
                  <a:srgbClr val="93A5B1"/>
                </a:solidFill>
                <a:latin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5416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dge Accent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Accent Bar"/>
          <p:cNvSpPr/>
          <p:nvPr/>
        </p:nvSpPr>
        <p:spPr>
          <a:xfrm>
            <a:off x="5676900" y="2717800"/>
            <a:ext cx="812800" cy="5080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914400" y="3098800"/>
            <a:ext cx="1033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0B2545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49606F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56239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28AD7A-92A2-C54C-8E18-04E6EE0CDEF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f3fd3021-5c9c-4273-b0d4-e4f3a9a5553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2374</Words>
  <Application>Microsoft Macintosh PowerPoint</Application>
  <PresentationFormat>Custom</PresentationFormat>
  <Paragraphs>260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 SOLANKI - 70412400024</cp:lastModifiedBy>
  <cp:revision>2</cp:revision>
  <dcterms:created xsi:type="dcterms:W3CDTF">2013-01-27T09:14:16Z</dcterms:created>
  <dcterms:modified xsi:type="dcterms:W3CDTF">2026-08-10T11:02:48Z</dcterms:modified>
  <cp:category/>
</cp:coreProperties>
</file>